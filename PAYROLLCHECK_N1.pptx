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69" r:id="rId6"/>
    <p:sldId id="259" r:id="rId7"/>
    <p:sldId id="260" r:id="rId8"/>
    <p:sldId id="261" r:id="rId9"/>
    <p:sldId id="262" r:id="rId10"/>
    <p:sldId id="263" r:id="rId11"/>
    <p:sldId id="264" r:id="rId12"/>
    <p:sldId id="265" r:id="rId13"/>
    <p:sldId id="266" r:id="rId14"/>
    <p:sldId id="268"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Em xin trình bày phần báo cáo kỹ thuật của hệ thống PayrollCheck. </a:t>
            </a:r>
            <a:r>
              <a:rPr lang="" altLang="en-US" dirty="0"/>
              <a:t>Đ</a:t>
            </a:r>
            <a:r>
              <a:rPr lang="en-US" altLang="en-US" dirty="0"/>
              <a:t>ây là hệ thống hỗ trợ quản l</a:t>
            </a:r>
            <a:r>
              <a:rPr lang="" altLang="en-US" dirty="0"/>
              <a:t>ý </a:t>
            </a:r>
            <a:r>
              <a:rPr lang="en-US" altLang="en-US" dirty="0"/>
              <a:t>dữ liệu nhân sự, tra cứu nhân viên hoặc </a:t>
            </a:r>
            <a:r>
              <a:rPr lang="" altLang="en-US" dirty="0"/>
              <a:t>đ</a:t>
            </a:r>
            <a:r>
              <a:rPr lang="en-US" altLang="en-US" dirty="0"/>
              <a:t>ơn vị và xác </a:t>
            </a:r>
            <a:r>
              <a:rPr lang="" altLang="en-US" dirty="0"/>
              <a:t>đ</a:t>
            </a:r>
            <a:r>
              <a:rPr lang="en-US" altLang="en-US" dirty="0"/>
              <a:t>ịnh trạng thái chi trả theo các quy tắc nghiệp vụ.</a:t>
            </a:r>
            <a:endParaRPr lang="en-US" altLang="en-US" dirty="0"/>
          </a:p>
          <a:p>
            <a:r>
              <a:rPr lang="en-US" altLang="en-US" dirty="0"/>
              <a:t>Trong phần này, nhóm em sẽ trình bày từ lúc dữ liệu </a:t>
            </a:r>
            <a:r>
              <a:rPr lang="" altLang="en-US" dirty="0"/>
              <a:t>đư</a:t>
            </a:r>
            <a:r>
              <a:rPr lang="en-US" altLang="en-US" dirty="0"/>
              <a:t>ợc </a:t>
            </a:r>
            <a:r>
              <a:rPr lang="" altLang="en-US" dirty="0"/>
              <a:t>đư</a:t>
            </a:r>
            <a:r>
              <a:rPr lang="en-US" altLang="en-US" dirty="0"/>
              <a:t>a vào hệ thống, cách hệ thống chuẩn hóa dữ liệu, phần AI Schema Mapping, Search Engine, Rule Engine, cơ sở dữ liệu, phân quyền và cuối cùng là phần kiểm thử.</a:t>
            </a:r>
            <a:endParaRPr lang="en-US" altLang="en-US" dirty="0"/>
          </a:p>
          <a:p>
            <a:r>
              <a:rPr lang="en-US" altLang="en-US" dirty="0"/>
              <a:t>Luồng chính của hệ thống có thể hiểu ngắn gọn là: Input, Mapping, Validation, l</a:t>
            </a:r>
            <a:r>
              <a:rPr lang="" altLang="en-US" dirty="0"/>
              <a:t>ư</a:t>
            </a:r>
            <a:r>
              <a:rPr lang="en-US" altLang="en-US" dirty="0"/>
              <a:t>u vào SQLite, Search, Rule Engine và cuối cùng hiển thị kết quả ra giao diện.</a:t>
            </a:r>
            <a:endParaRPr lang="en-US"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Mục tiêu của PayrollCheck là hỗ trợ nhập và chuẩn hóa dữ liệu nhân sự, sau </a:t>
            </a:r>
            <a:r>
              <a:rPr lang="" altLang="en-US" dirty="0"/>
              <a:t>đ</a:t>
            </a:r>
            <a:r>
              <a:rPr lang="en-US" altLang="en-US" dirty="0"/>
              <a:t>ó cho phép ng</a:t>
            </a:r>
            <a:r>
              <a:rPr lang="" altLang="en-US" dirty="0"/>
              <a:t>ư</a:t>
            </a:r>
            <a:r>
              <a:rPr lang="en-US" altLang="en-US" dirty="0"/>
              <a:t>ời dùng tra cứu nhân viên hoặc </a:t>
            </a:r>
            <a:r>
              <a:rPr lang="" altLang="en-US" dirty="0"/>
              <a:t>đ</a:t>
            </a:r>
            <a:r>
              <a:rPr lang="en-US" altLang="en-US" dirty="0"/>
              <a:t>ơn vị và xác </a:t>
            </a:r>
            <a:r>
              <a:rPr lang="" altLang="en-US" dirty="0"/>
              <a:t>đ</a:t>
            </a:r>
            <a:r>
              <a:rPr lang="en-US" altLang="en-US" dirty="0"/>
              <a:t>ịnh trạng thái chi trả.</a:t>
            </a:r>
            <a:endParaRPr lang="en-US" altLang="en-US" dirty="0"/>
          </a:p>
          <a:p>
            <a:r>
              <a:rPr lang="en-US" altLang="en-US" dirty="0"/>
              <a:t>Một </a:t>
            </a:r>
            <a:r>
              <a:rPr lang="" altLang="en-US" dirty="0"/>
              <a:t>đ</a:t>
            </a:r>
            <a:r>
              <a:rPr lang="en-US" altLang="en-US" dirty="0"/>
              <a:t>iểm nhóm em tách khá r</a:t>
            </a:r>
            <a:r>
              <a:rPr lang="" altLang="en-US" dirty="0"/>
              <a:t>õ </a:t>
            </a:r>
            <a:r>
              <a:rPr lang="en-US" altLang="en-US" dirty="0"/>
              <a:t>là AI, Search Engine và Rule Engine không làm cùng một nhiệm vụ.</a:t>
            </a:r>
            <a:endParaRPr lang="en-US" altLang="en-US" dirty="0"/>
          </a:p>
          <a:p>
            <a:r>
              <a:rPr lang="en-US" altLang="en-US" dirty="0"/>
              <a:t>AI chỉ hỗ trợ hệ thống hiểu dữ liệu </a:t>
            </a:r>
            <a:r>
              <a:rPr lang="" altLang="en-US" dirty="0"/>
              <a:t>đ</a:t>
            </a:r>
            <a:r>
              <a:rPr lang="en-US" altLang="en-US" dirty="0"/>
              <a:t>ầu vào, ví dụ nhận biết cột nào là mã nhân viên, cột nào là họ tên hoặc </a:t>
            </a:r>
            <a:r>
              <a:rPr lang="" altLang="en-US" dirty="0"/>
              <a:t>đ</a:t>
            </a:r>
            <a:r>
              <a:rPr lang="en-US" altLang="en-US" dirty="0"/>
              <a:t>ơn vị.</a:t>
            </a:r>
            <a:endParaRPr lang="en-US" altLang="en-US" dirty="0"/>
          </a:p>
          <a:p>
            <a:r>
              <a:rPr lang="en-US" altLang="en-US" dirty="0"/>
              <a:t>Search Engine chỉ có nhiệm vụ tìm </a:t>
            </a:r>
            <a:r>
              <a:rPr lang="" altLang="en-US" dirty="0"/>
              <a:t>đ</a:t>
            </a:r>
            <a:r>
              <a:rPr lang="en-US" altLang="en-US" dirty="0"/>
              <a:t>úng nhân viên hoặc </a:t>
            </a:r>
            <a:r>
              <a:rPr lang="" altLang="en-US" dirty="0"/>
              <a:t>đ</a:t>
            </a:r>
            <a:r>
              <a:rPr lang="en-US" altLang="en-US" dirty="0"/>
              <a:t>ơn vị ng</a:t>
            </a:r>
            <a:r>
              <a:rPr lang="" altLang="en-US" dirty="0"/>
              <a:t>ư</a:t>
            </a:r>
            <a:r>
              <a:rPr lang="en-US" altLang="en-US" dirty="0"/>
              <a:t>ời dùng </a:t>
            </a:r>
            <a:r>
              <a:rPr lang="" altLang="en-US" dirty="0"/>
              <a:t>đ</a:t>
            </a:r>
            <a:r>
              <a:rPr lang="en-US" altLang="en-US" dirty="0"/>
              <a:t>ang cần.</a:t>
            </a:r>
            <a:endParaRPr lang="en-US" altLang="en-US" dirty="0"/>
          </a:p>
          <a:p>
            <a:r>
              <a:rPr lang="en-US" altLang="en-US" dirty="0"/>
              <a:t>Còn kết quả cuối cùng là YES, NO hay CHUA_XAC_DINH thì chỉ do Rule Engine quyết </a:t>
            </a:r>
            <a:r>
              <a:rPr lang="" altLang="en-US" dirty="0"/>
              <a:t>đ</a:t>
            </a:r>
            <a:r>
              <a:rPr lang="en-US" altLang="en-US" dirty="0"/>
              <a:t>ịnh dựa trên Business Rule và ngoại lệ cá nhân.</a:t>
            </a:r>
            <a:endParaRPr lang="en-US" altLang="en-US" dirty="0"/>
          </a:p>
          <a:p>
            <a:r>
              <a:rPr lang="en-US" altLang="en-US" dirty="0"/>
              <a:t>Vì vậy AI không trực tiếp quyết </a:t>
            </a:r>
            <a:r>
              <a:rPr lang="" altLang="en-US" dirty="0"/>
              <a:t>đ</a:t>
            </a:r>
            <a:r>
              <a:rPr lang="en-US" altLang="en-US" dirty="0"/>
              <a:t>ịnh một nhân viên có </a:t>
            </a:r>
            <a:r>
              <a:rPr lang="" altLang="en-US" dirty="0"/>
              <a:t>đư</a:t>
            </a:r>
            <a:r>
              <a:rPr lang="en-US" altLang="en-US" dirty="0"/>
              <a:t>ợc chi trả hay không</a:t>
            </a:r>
            <a:endParaRPr lang="en-US"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Về công nghệ, Backend của nhóm em </a:t>
            </a:r>
            <a:r>
              <a:rPr lang="" altLang="en-US" dirty="0"/>
              <a:t>đư</a:t>
            </a:r>
            <a:r>
              <a:rPr lang="en-US" altLang="en-US" dirty="0"/>
              <a:t>ợc viết bằng Python, sử dụng FastAPI và Uvicorn. FastAPI dùng </a:t>
            </a:r>
            <a:r>
              <a:rPr lang="" altLang="en-US" dirty="0"/>
              <a:t>đ</a:t>
            </a:r>
            <a:r>
              <a:rPr lang="en-US" altLang="en-US" dirty="0"/>
              <a:t>ể xây dựng các API và kết nối các module.</a:t>
            </a:r>
            <a:endParaRPr lang="en-US" altLang="en-US" dirty="0"/>
          </a:p>
          <a:p>
            <a:r>
              <a:rPr lang="en-US" altLang="en-US" dirty="0"/>
              <a:t>Cơ sở dữ liệu sử dụng SQLite. Nhóm chọn SQLite vì project hiện tại ở mức prototype, dễ </a:t>
            </a:r>
            <a:r>
              <a:rPr lang="" altLang="en-US" dirty="0"/>
              <a:t>đ</a:t>
            </a:r>
            <a:r>
              <a:rPr lang="en-US" altLang="en-US" dirty="0"/>
              <a:t>óng gói và không cần cài thêm Database Server.</a:t>
            </a:r>
            <a:endParaRPr lang="en-US" altLang="en-US" dirty="0"/>
          </a:p>
          <a:p>
            <a:r>
              <a:rPr lang="en-US" altLang="en-US" dirty="0"/>
              <a:t>Frontend sử dụng HTML, CSS và JavaScript.</a:t>
            </a:r>
            <a:endParaRPr lang="en-US" altLang="en-US" dirty="0"/>
          </a:p>
          <a:p>
            <a:r>
              <a:rPr lang="en-US" altLang="en-US" dirty="0"/>
              <a:t>Phần AI Schema Mapping sử dụng scikit-learn và joblib. Search Engine sử dụng RapidFuzz </a:t>
            </a:r>
            <a:r>
              <a:rPr lang="" altLang="en-US" dirty="0"/>
              <a:t>đ</a:t>
            </a:r>
            <a:r>
              <a:rPr lang="en-US" altLang="en-US" dirty="0"/>
              <a:t>ể hỗ trợ tìm tên gần </a:t>
            </a:r>
            <a:r>
              <a:rPr lang="" altLang="en-US" dirty="0"/>
              <a:t>đ</a:t>
            </a:r>
            <a:r>
              <a:rPr lang="en-US" altLang="en-US" dirty="0"/>
              <a:t>úng khi ng</a:t>
            </a:r>
            <a:r>
              <a:rPr lang="" altLang="en-US" dirty="0"/>
              <a:t>ư</a:t>
            </a:r>
            <a:r>
              <a:rPr lang="en-US" altLang="en-US" dirty="0"/>
              <a:t>ời dùng g</a:t>
            </a:r>
            <a:r>
              <a:rPr lang="" altLang="en-US" dirty="0"/>
              <a:t>õ </a:t>
            </a:r>
            <a:r>
              <a:rPr lang="en-US" altLang="en-US" dirty="0"/>
              <a:t>sai nhẹ.</a:t>
            </a:r>
            <a:endParaRPr lang="en-US" altLang="en-US" dirty="0"/>
          </a:p>
          <a:p>
            <a:r>
              <a:rPr lang="en-US" altLang="en-US" dirty="0"/>
              <a:t>Về module, Universal Input chịu trách nhiệm </a:t>
            </a:r>
            <a:r>
              <a:rPr lang="" altLang="en-US" dirty="0"/>
              <a:t>đ</a:t>
            </a:r>
            <a:r>
              <a:rPr lang="en-US" altLang="en-US" dirty="0"/>
              <a:t>ọc dữ liệu. Information Mapping xử l</a:t>
            </a:r>
            <a:r>
              <a:rPr lang="" altLang="en-US" dirty="0"/>
              <a:t>ý </a:t>
            </a:r>
            <a:r>
              <a:rPr lang="en-US" altLang="en-US" dirty="0"/>
              <a:t>trích xuất và ánh xạ schema. Backend Validation xử l</a:t>
            </a:r>
            <a:r>
              <a:rPr lang="" altLang="en-US" dirty="0"/>
              <a:t>ý </a:t>
            </a:r>
            <a:r>
              <a:rPr lang="en-US" altLang="en-US" dirty="0"/>
              <a:t>API, validation và xác thực. Search Engine và Rule Engine xử l</a:t>
            </a:r>
            <a:r>
              <a:rPr lang="" altLang="en-US" dirty="0"/>
              <a:t>ý </a:t>
            </a:r>
            <a:r>
              <a:rPr lang="en-US" altLang="en-US" dirty="0"/>
              <a:t>phần tra cứu và quyết </a:t>
            </a:r>
            <a:r>
              <a:rPr lang="" altLang="en-US" dirty="0"/>
              <a:t>đ</a:t>
            </a:r>
            <a:r>
              <a:rPr lang="en-US" altLang="en-US" dirty="0"/>
              <a:t>ịnh nghiệp vụ.</a:t>
            </a:r>
            <a:endParaRPr lang="en-US" altLang="en-US" dirty="0"/>
          </a:p>
          <a:p>
            <a:r>
              <a:rPr lang="en-US" altLang="en-US" dirty="0"/>
              <a:t>OCR có </a:t>
            </a:r>
            <a:r>
              <a:rPr lang="" altLang="en-US" dirty="0"/>
              <a:t>đư</a:t>
            </a:r>
            <a:r>
              <a:rPr lang="en-US" altLang="en-US" dirty="0"/>
              <a:t>ợc nghiên cứu ở giai </a:t>
            </a:r>
            <a:r>
              <a:rPr lang="" altLang="en-US" dirty="0"/>
              <a:t>đ</a:t>
            </a:r>
            <a:r>
              <a:rPr lang="en-US" altLang="en-US" dirty="0"/>
              <a:t>oạn tr</a:t>
            </a:r>
            <a:r>
              <a:rPr lang="" altLang="en-US" dirty="0"/>
              <a:t>ư</a:t>
            </a:r>
            <a:r>
              <a:rPr lang="en-US" altLang="en-US" dirty="0"/>
              <a:t>ớc, nh</a:t>
            </a:r>
            <a:r>
              <a:rPr lang="" altLang="en-US" dirty="0"/>
              <a:t>ư</a:t>
            </a:r>
            <a:r>
              <a:rPr lang="en-US" altLang="en-US" dirty="0"/>
              <a:t>ng phiên bản cuối không xem OCR là chức n</a:t>
            </a:r>
            <a:r>
              <a:rPr lang="" altLang="en-US" dirty="0"/>
              <a:t>ă</a:t>
            </a:r>
            <a:r>
              <a:rPr lang="en-US" altLang="en-US" dirty="0"/>
              <a:t>ng chính.</a:t>
            </a:r>
            <a:endParaRPr lang="en-US"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Ở phần nhập dữ liệu, hệ thống hỗ trợ hai cách chính là tải file lên hoặc nhập và dán v</a:t>
            </a:r>
            <a:r>
              <a:rPr lang="" altLang="en-US" dirty="0"/>
              <a:t>ă</a:t>
            </a:r>
            <a:r>
              <a:rPr lang="en-US" altLang="en-US" dirty="0"/>
              <a:t>n bản trực tiếp.</a:t>
            </a:r>
            <a:endParaRPr lang="en-US" altLang="en-US" dirty="0"/>
          </a:p>
          <a:p>
            <a:r>
              <a:rPr lang="" altLang="en-US" dirty="0"/>
              <a:t>Đ</a:t>
            </a:r>
            <a:r>
              <a:rPr lang="en-US" altLang="en-US" dirty="0"/>
              <a:t>ối với dữ liệu dạng bảng nh</a:t>
            </a:r>
            <a:r>
              <a:rPr lang="" altLang="en-US" dirty="0"/>
              <a:t>ư </a:t>
            </a:r>
            <a:r>
              <a:rPr lang="en-US" altLang="en-US" dirty="0"/>
              <a:t>Excel hoặc CSV, hệ thống lấy tên cột và nội dung từng dòng </a:t>
            </a:r>
            <a:r>
              <a:rPr lang="" altLang="en-US" dirty="0"/>
              <a:t>đ</a:t>
            </a:r>
            <a:r>
              <a:rPr lang="en-US" altLang="en-US" dirty="0"/>
              <a:t>ể xử l</a:t>
            </a:r>
            <a:r>
              <a:rPr lang="" altLang="en-US" dirty="0"/>
              <a:t>ý. </a:t>
            </a:r>
            <a:r>
              <a:rPr lang="en-US" altLang="en-US" dirty="0"/>
              <a:t>Với dữ liệu dạng v</a:t>
            </a:r>
            <a:r>
              <a:rPr lang="" altLang="en-US" dirty="0"/>
              <a:t>ă</a:t>
            </a:r>
            <a:r>
              <a:rPr lang="en-US" altLang="en-US" dirty="0"/>
              <a:t>n bản thì hệ thống trích xuất các tr</a:t>
            </a:r>
            <a:r>
              <a:rPr lang="" altLang="en-US" dirty="0"/>
              <a:t>ư</a:t>
            </a:r>
            <a:r>
              <a:rPr lang="en-US" altLang="en-US" dirty="0"/>
              <a:t>ờng nh</a:t>
            </a:r>
            <a:r>
              <a:rPr lang="" altLang="en-US" dirty="0"/>
              <a:t>ư </a:t>
            </a:r>
            <a:r>
              <a:rPr lang="en-US" altLang="en-US" dirty="0"/>
              <a:t>mã nhân viên, họ tên, </a:t>
            </a:r>
            <a:r>
              <a:rPr lang="" altLang="en-US" dirty="0"/>
              <a:t>đ</a:t>
            </a:r>
            <a:r>
              <a:rPr lang="en-US" altLang="en-US" dirty="0"/>
              <a:t>ơn vị, chức vụ hoặc email.</a:t>
            </a:r>
            <a:endParaRPr lang="en-US" altLang="en-US" dirty="0"/>
          </a:p>
          <a:p>
            <a:r>
              <a:rPr lang="en-US" altLang="en-US" dirty="0"/>
              <a:t>Dữ liệu sau khi </a:t>
            </a:r>
            <a:r>
              <a:rPr lang="" altLang="en-US" dirty="0"/>
              <a:t>đ</a:t>
            </a:r>
            <a:r>
              <a:rPr lang="en-US" altLang="en-US" dirty="0"/>
              <a:t>ọc ch</a:t>
            </a:r>
            <a:r>
              <a:rPr lang="" altLang="en-US" dirty="0"/>
              <a:t>ư</a:t>
            </a:r>
            <a:r>
              <a:rPr lang="en-US" altLang="en-US" dirty="0"/>
              <a:t>a </a:t>
            </a:r>
            <a:r>
              <a:rPr lang="" altLang="en-US" dirty="0"/>
              <a:t>đư</a:t>
            </a:r>
            <a:r>
              <a:rPr lang="en-US" altLang="en-US" dirty="0"/>
              <a:t>ợc ghi ngay vào database. Hệ thống sẽ </a:t>
            </a:r>
            <a:r>
              <a:rPr lang="" altLang="en-US" dirty="0"/>
              <a:t>đư</a:t>
            </a:r>
            <a:r>
              <a:rPr lang="en-US" altLang="en-US" dirty="0"/>
              <a:t>a sang b</a:t>
            </a:r>
            <a:r>
              <a:rPr lang="" altLang="en-US" dirty="0"/>
              <a:t>ư</a:t>
            </a:r>
            <a:r>
              <a:rPr lang="en-US" altLang="en-US" dirty="0"/>
              <a:t>ớc Mapping và Preview tr</a:t>
            </a:r>
            <a:r>
              <a:rPr lang="" altLang="en-US" dirty="0"/>
              <a:t>ư</a:t>
            </a:r>
            <a:r>
              <a:rPr lang="en-US" altLang="en-US" dirty="0"/>
              <a:t>ớc.</a:t>
            </a:r>
            <a:endParaRPr lang="en-US" altLang="en-US" dirty="0"/>
          </a:p>
          <a:p>
            <a:r>
              <a:rPr lang="en-US" altLang="en-US" dirty="0"/>
              <a:t>Ng</a:t>
            </a:r>
            <a:r>
              <a:rPr lang="" altLang="en-US" dirty="0"/>
              <a:t>ư</a:t>
            </a:r>
            <a:r>
              <a:rPr lang="en-US" altLang="en-US" dirty="0"/>
              <a:t>ời dùng có thể xem kết quả mapping, sửa lại nếu cần, sau </a:t>
            </a:r>
            <a:r>
              <a:rPr lang="" altLang="en-US" dirty="0"/>
              <a:t>đ</a:t>
            </a:r>
            <a:r>
              <a:rPr lang="en-US" altLang="en-US" dirty="0"/>
              <a:t>ó mới chạy Validation. Chỉ khi Validation </a:t>
            </a:r>
            <a:r>
              <a:rPr lang="" altLang="en-US" dirty="0"/>
              <a:t>đ</a:t>
            </a:r>
            <a:r>
              <a:rPr lang="en-US" altLang="en-US" dirty="0"/>
              <a:t>ạt thì dữ liệu mới </a:t>
            </a:r>
            <a:r>
              <a:rPr lang="" altLang="en-US" dirty="0"/>
              <a:t>đư</a:t>
            </a:r>
            <a:r>
              <a:rPr lang="en-US" altLang="en-US" dirty="0"/>
              <a:t>ợc Commit.</a:t>
            </a:r>
            <a:endParaRPr lang="en-US"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 altLang="en-US" dirty="0"/>
              <a:t>Đ</a:t>
            </a:r>
            <a:r>
              <a:rPr lang="en-US" altLang="en-US" dirty="0"/>
              <a:t>ây là phần AI chính trong project của nhóm em. Mục </a:t>
            </a:r>
            <a:r>
              <a:rPr lang="" altLang="en-US" dirty="0"/>
              <a:t>đ</a:t>
            </a:r>
            <a:r>
              <a:rPr lang="en-US" altLang="en-US" dirty="0"/>
              <a:t>ích của Schema Mapping là xử l</a:t>
            </a:r>
            <a:r>
              <a:rPr lang="" altLang="en-US" dirty="0"/>
              <a:t>ý </a:t>
            </a:r>
            <a:r>
              <a:rPr lang="en-US" altLang="en-US" dirty="0"/>
              <a:t>tr</a:t>
            </a:r>
            <a:r>
              <a:rPr lang="" altLang="en-US" dirty="0"/>
              <a:t>ư</a:t>
            </a:r>
            <a:r>
              <a:rPr lang="en-US" altLang="en-US" dirty="0"/>
              <a:t>ờng hợp cùng một </a:t>
            </a:r>
            <a:r>
              <a:rPr lang="" altLang="en-US" dirty="0"/>
              <a:t>ý </a:t>
            </a:r>
            <a:r>
              <a:rPr lang="en-US" altLang="en-US" dirty="0"/>
              <a:t>ngh</a:t>
            </a:r>
            <a:r>
              <a:rPr lang="" altLang="en-US" dirty="0"/>
              <a:t>ĩ</a:t>
            </a:r>
            <a:r>
              <a:rPr lang="en-US" altLang="en-US" dirty="0"/>
              <a:t>a nh</a:t>
            </a:r>
            <a:r>
              <a:rPr lang="" altLang="en-US" dirty="0"/>
              <a:t>ư</a:t>
            </a:r>
            <a:r>
              <a:rPr lang="en-US" altLang="en-US" dirty="0"/>
              <a:t>ng mỗi file lại </a:t>
            </a:r>
            <a:r>
              <a:rPr lang="" altLang="en-US" dirty="0"/>
              <a:t>đ</a:t>
            </a:r>
            <a:r>
              <a:rPr lang="en-US" altLang="en-US" dirty="0"/>
              <a:t>ặt tên cột khác nhau.</a:t>
            </a:r>
            <a:endParaRPr lang="en-US" altLang="en-US" dirty="0"/>
          </a:p>
          <a:p>
            <a:r>
              <a:rPr lang="en-US" altLang="en-US" dirty="0"/>
              <a:t>Ví dụ mã nhân viên có thể </a:t>
            </a:r>
            <a:r>
              <a:rPr lang="" altLang="en-US" dirty="0"/>
              <a:t>đư</a:t>
            </a:r>
            <a:r>
              <a:rPr lang="en-US" altLang="en-US" dirty="0"/>
              <a:t>ợc ghi là ‘Mã NV’, ‘MSNV’ hoặc ‘Employee ID’. Hệ thống cần </a:t>
            </a:r>
            <a:r>
              <a:rPr lang="" altLang="en-US" dirty="0"/>
              <a:t>đư</a:t>
            </a:r>
            <a:r>
              <a:rPr lang="en-US" altLang="en-US" dirty="0"/>
              <a:t>a tất cả về một tr</a:t>
            </a:r>
            <a:r>
              <a:rPr lang="" altLang="en-US" dirty="0"/>
              <a:t>ư</a:t>
            </a:r>
            <a:r>
              <a:rPr lang="en-US" altLang="en-US" dirty="0"/>
              <a:t>ờng chuẩn là MA_NHAN_VIEN.</a:t>
            </a:r>
            <a:endParaRPr lang="en-US" altLang="en-US" dirty="0"/>
          </a:p>
          <a:p>
            <a:r>
              <a:rPr lang="" altLang="en-US" dirty="0"/>
              <a:t>Đ</a:t>
            </a:r>
            <a:r>
              <a:rPr lang="en-US" altLang="en-US" dirty="0"/>
              <a:t>ầu tiên tên cột </a:t>
            </a:r>
            <a:r>
              <a:rPr lang="" altLang="en-US" dirty="0"/>
              <a:t>đư</a:t>
            </a:r>
            <a:r>
              <a:rPr lang="en-US" altLang="en-US" dirty="0"/>
              <a:t>ợc Preprocessing, tức là tiền xử l</a:t>
            </a:r>
            <a:r>
              <a:rPr lang="" altLang="en-US" dirty="0"/>
              <a:t>ý </a:t>
            </a:r>
            <a:r>
              <a:rPr lang="en-US" altLang="en-US" dirty="0"/>
              <a:t>và chuẩn hóa chuỗi. Sau </a:t>
            </a:r>
            <a:r>
              <a:rPr lang="" altLang="en-US" dirty="0"/>
              <a:t>đ</a:t>
            </a:r>
            <a:r>
              <a:rPr lang="en-US" altLang="en-US" dirty="0"/>
              <a:t>ó hệ thống thử Alias Exact Match. Alias là những cách gọi mà nhóm </a:t>
            </a:r>
            <a:r>
              <a:rPr lang="" altLang="en-US" dirty="0"/>
              <a:t>đ</a:t>
            </a:r>
            <a:r>
              <a:rPr lang="en-US" altLang="en-US" dirty="0"/>
              <a:t>ã biết tr</a:t>
            </a:r>
            <a:r>
              <a:rPr lang="" altLang="en-US" dirty="0"/>
              <a:t>ư</a:t>
            </a:r>
            <a:r>
              <a:rPr lang="en-US" altLang="en-US" dirty="0"/>
              <a:t>ớc. Nếu khớp alias thì trả kết quả luôn, không cần AI.</a:t>
            </a:r>
            <a:endParaRPr lang="en-US" altLang="en-US" dirty="0"/>
          </a:p>
          <a:p>
            <a:r>
              <a:rPr lang="en-US" altLang="en-US" dirty="0"/>
              <a:t>Nếu alias không khớp thì tên cột </a:t>
            </a:r>
            <a:r>
              <a:rPr lang="" altLang="en-US" dirty="0"/>
              <a:t>đư</a:t>
            </a:r>
            <a:r>
              <a:rPr lang="en-US" altLang="en-US" dirty="0"/>
              <a:t>ợc </a:t>
            </a:r>
            <a:r>
              <a:rPr lang="" altLang="en-US" dirty="0"/>
              <a:t>đư</a:t>
            </a:r>
            <a:r>
              <a:rPr lang="en-US" altLang="en-US" dirty="0"/>
              <a:t>a qua TF-IDF Character N-gram </a:t>
            </a:r>
            <a:r>
              <a:rPr lang="" altLang="en-US" dirty="0"/>
              <a:t>đ</a:t>
            </a:r>
            <a:r>
              <a:rPr lang="en-US" altLang="en-US" dirty="0"/>
              <a:t>ể biến chữ thành vector số. Vector này tiếp tục </a:t>
            </a:r>
            <a:r>
              <a:rPr lang="" altLang="en-US" dirty="0"/>
              <a:t>đư</a:t>
            </a:r>
            <a:r>
              <a:rPr lang="en-US" altLang="en-US" dirty="0"/>
              <a:t>ợc Logistic Regression phân loại thành các nhãn nh</a:t>
            </a:r>
            <a:r>
              <a:rPr lang="" altLang="en-US" dirty="0"/>
              <a:t>ư </a:t>
            </a:r>
            <a:r>
              <a:rPr lang="en-US" altLang="en-US" dirty="0"/>
              <a:t>MA_NHAN_VIEN, HO_TEN, TEN_DON_VI, LOAI_DON_VI hoặc OTHER.</a:t>
            </a:r>
            <a:endParaRPr lang="en-US" altLang="en-US" dirty="0"/>
          </a:p>
          <a:p>
            <a:r>
              <a:rPr lang="en-US" altLang="en-US" dirty="0"/>
              <a:t>Model còn trả confidence, tức là </a:t>
            </a:r>
            <a:r>
              <a:rPr lang="" altLang="en-US" dirty="0"/>
              <a:t>đ</a:t>
            </a:r>
            <a:r>
              <a:rPr lang="en-US" altLang="en-US" dirty="0"/>
              <a:t>ộ tin cậy của dự </a:t>
            </a:r>
            <a:r>
              <a:rPr lang="" altLang="en-US" dirty="0"/>
              <a:t>đ</a:t>
            </a:r>
            <a:r>
              <a:rPr lang="en-US" altLang="en-US" dirty="0"/>
              <a:t>oán. Confidence thấp thì ng</a:t>
            </a:r>
            <a:r>
              <a:rPr lang="" altLang="en-US" dirty="0"/>
              <a:t>ư</a:t>
            </a:r>
            <a:r>
              <a:rPr lang="en-US" altLang="en-US" dirty="0"/>
              <a:t>ời dùng phải kiểm tra mapping tr</a:t>
            </a:r>
            <a:r>
              <a:rPr lang="" altLang="en-US" dirty="0"/>
              <a:t>ư</a:t>
            </a:r>
            <a:r>
              <a:rPr lang="en-US" altLang="en-US" dirty="0"/>
              <a:t>ớc khi Commit.</a:t>
            </a:r>
            <a:endParaRPr lang="en-US"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Sau b</a:t>
            </a:r>
            <a:r>
              <a:rPr lang="" altLang="en-US" dirty="0"/>
              <a:t>ư</a:t>
            </a:r>
            <a:r>
              <a:rPr lang="en-US" altLang="en-US" dirty="0"/>
              <a:t>ớc Mapping, dữ liệu </a:t>
            </a:r>
            <a:r>
              <a:rPr lang="" altLang="en-US" dirty="0"/>
              <a:t>đư</a:t>
            </a:r>
            <a:r>
              <a:rPr lang="en-US" altLang="en-US" dirty="0"/>
              <a:t>ợc </a:t>
            </a:r>
            <a:r>
              <a:rPr lang="" altLang="en-US" dirty="0"/>
              <a:t>đư</a:t>
            </a:r>
            <a:r>
              <a:rPr lang="en-US" altLang="en-US" dirty="0"/>
              <a:t>a sang Preview. Preview giúp ng</a:t>
            </a:r>
            <a:r>
              <a:rPr lang="" altLang="en-US" dirty="0"/>
              <a:t>ư</a:t>
            </a:r>
            <a:r>
              <a:rPr lang="en-US" altLang="en-US" dirty="0"/>
              <a:t>ời dùng nhìn lại dữ liệu tr</a:t>
            </a:r>
            <a:r>
              <a:rPr lang="" altLang="en-US" dirty="0"/>
              <a:t>ư</a:t>
            </a:r>
            <a:r>
              <a:rPr lang="en-US" altLang="en-US" dirty="0"/>
              <a:t>ớc khi l</a:t>
            </a:r>
            <a:r>
              <a:rPr lang="" altLang="en-US" dirty="0"/>
              <a:t>ư</a:t>
            </a:r>
            <a:r>
              <a:rPr lang="en-US" altLang="en-US" dirty="0"/>
              <a:t>u.</a:t>
            </a:r>
            <a:endParaRPr lang="en-US" altLang="en-US" dirty="0"/>
          </a:p>
          <a:p>
            <a:r>
              <a:rPr lang="en-US" altLang="en-US" dirty="0"/>
              <a:t>Sau </a:t>
            </a:r>
            <a:r>
              <a:rPr lang="" altLang="en-US" dirty="0"/>
              <a:t>đ</a:t>
            </a:r>
            <a:r>
              <a:rPr lang="en-US" altLang="en-US" dirty="0"/>
              <a:t>ó Validation kiểm tra các </a:t>
            </a:r>
            <a:r>
              <a:rPr lang="" altLang="en-US" dirty="0"/>
              <a:t>đ</a:t>
            </a:r>
            <a:r>
              <a:rPr lang="en-US" altLang="en-US" dirty="0"/>
              <a:t>iều kiện nh</a:t>
            </a:r>
            <a:r>
              <a:rPr lang="" altLang="en-US" dirty="0"/>
              <a:t>ư </a:t>
            </a:r>
            <a:r>
              <a:rPr lang="en-US" altLang="en-US" dirty="0"/>
              <a:t>thiếu tr</a:t>
            </a:r>
            <a:r>
              <a:rPr lang="" altLang="en-US" dirty="0"/>
              <a:t>ư</a:t>
            </a:r>
            <a:r>
              <a:rPr lang="en-US" altLang="en-US" dirty="0"/>
              <a:t>ờng bắt buộc, dữ liệu sai </a:t>
            </a:r>
            <a:r>
              <a:rPr lang="" altLang="en-US" dirty="0"/>
              <a:t>đ</a:t>
            </a:r>
            <a:r>
              <a:rPr lang="en-US" altLang="en-US" dirty="0"/>
              <a:t>ịnh dạng, mapping ch</a:t>
            </a:r>
            <a:r>
              <a:rPr lang="" altLang="en-US" dirty="0"/>
              <a:t>ư</a:t>
            </a:r>
            <a:r>
              <a:rPr lang="en-US" altLang="en-US" dirty="0"/>
              <a:t>a xác nhận hoặc quan hệ tham chiếu không tồn tại. Ví dụ ngoại lệ cá nhân phải tham chiếu </a:t>
            </a:r>
            <a:r>
              <a:rPr lang="" altLang="en-US" dirty="0"/>
              <a:t>đ</a:t>
            </a:r>
            <a:r>
              <a:rPr lang="en-US" altLang="en-US" dirty="0"/>
              <a:t>ến một nhân viên </a:t>
            </a:r>
            <a:r>
              <a:rPr lang="" altLang="en-US" dirty="0"/>
              <a:t>đ</a:t>
            </a:r>
            <a:r>
              <a:rPr lang="en-US" altLang="en-US" dirty="0"/>
              <a:t>ã tồn tại.</a:t>
            </a:r>
            <a:endParaRPr lang="en-US" altLang="en-US" dirty="0"/>
          </a:p>
          <a:p>
            <a:r>
              <a:rPr lang="en-US" altLang="en-US" dirty="0"/>
              <a:t>Khi Validation </a:t>
            </a:r>
            <a:r>
              <a:rPr lang="" altLang="en-US" dirty="0"/>
              <a:t>đ</a:t>
            </a:r>
            <a:r>
              <a:rPr lang="en-US" altLang="en-US" dirty="0"/>
              <a:t>ạt thì hệ thống mới Commit dữ liệu.</a:t>
            </a:r>
            <a:endParaRPr lang="en-US" altLang="en-US" dirty="0"/>
          </a:p>
          <a:p>
            <a:r>
              <a:rPr lang="en-US" altLang="en-US" dirty="0"/>
              <a:t>Nhóm em xây ba chế </a:t>
            </a:r>
            <a:r>
              <a:rPr lang="" altLang="en-US" dirty="0"/>
              <a:t>đ</a:t>
            </a:r>
            <a:r>
              <a:rPr lang="en-US" altLang="en-US" dirty="0"/>
              <a:t>ộ Commit là APPEND, UPSERT và REPLACE.</a:t>
            </a:r>
            <a:endParaRPr lang="en-US" altLang="en-US" dirty="0"/>
          </a:p>
          <a:p>
            <a:r>
              <a:rPr lang="en-US" altLang="en-US" dirty="0"/>
              <a:t>APPEND chỉ thêm dữ liệu mới. UPSERT thì nếu ch</a:t>
            </a:r>
            <a:r>
              <a:rPr lang="" altLang="en-US" dirty="0"/>
              <a:t>ư</a:t>
            </a:r>
            <a:r>
              <a:rPr lang="en-US" altLang="en-US" dirty="0"/>
              <a:t>a có sẽ thêm, nếu </a:t>
            </a:r>
            <a:r>
              <a:rPr lang="" altLang="en-US" dirty="0"/>
              <a:t>đ</a:t>
            </a:r>
            <a:r>
              <a:rPr lang="en-US" altLang="en-US" dirty="0"/>
              <a:t>ã có sẽ cập nhật. REPLACE dùng </a:t>
            </a:r>
            <a:r>
              <a:rPr lang="" altLang="en-US" dirty="0"/>
              <a:t>đ</a:t>
            </a:r>
            <a:r>
              <a:rPr lang="en-US" altLang="en-US" dirty="0"/>
              <a:t>ể thay toàn bộ dữ liệu của </a:t>
            </a:r>
            <a:r>
              <a:rPr lang="" altLang="en-US" dirty="0"/>
              <a:t>đ</a:t>
            </a:r>
            <a:r>
              <a:rPr lang="en-US" altLang="en-US" dirty="0"/>
              <a:t>úng loại </a:t>
            </a:r>
            <a:r>
              <a:rPr lang="" altLang="en-US" dirty="0"/>
              <a:t>đ</a:t>
            </a:r>
            <a:r>
              <a:rPr lang="en-US" altLang="en-US" dirty="0"/>
              <a:t>ang nhập.</a:t>
            </a:r>
            <a:endParaRPr lang="en-US"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Hệ thống sử dụng SQLite và chia dữ liệu thành nhiều bảng theo từng nhiệm vụ.</a:t>
            </a:r>
            <a:endParaRPr lang="en-US" altLang="en-US" dirty="0"/>
          </a:p>
          <a:p>
            <a:r>
              <a:rPr lang="en-US" altLang="en-US" dirty="0"/>
              <a:t>Bảng nhan_vien l</a:t>
            </a:r>
            <a:r>
              <a:rPr lang="" altLang="en-US" dirty="0"/>
              <a:t>ư</a:t>
            </a:r>
            <a:r>
              <a:rPr lang="en-US" altLang="en-US" dirty="0"/>
              <a:t>u thông tin nhân viên nh</a:t>
            </a:r>
            <a:r>
              <a:rPr lang="" altLang="en-US" dirty="0"/>
              <a:t>ư </a:t>
            </a:r>
            <a:r>
              <a:rPr lang="en-US" altLang="en-US" dirty="0"/>
              <a:t>mã nhân viên, họ tên, </a:t>
            </a:r>
            <a:r>
              <a:rPr lang="" altLang="en-US" dirty="0"/>
              <a:t>đ</a:t>
            </a:r>
            <a:r>
              <a:rPr lang="en-US" altLang="en-US" dirty="0"/>
              <a:t>ơn vị, chức vụ và email.</a:t>
            </a:r>
            <a:endParaRPr lang="en-US" altLang="en-US" dirty="0"/>
          </a:p>
          <a:p>
            <a:r>
              <a:rPr lang="en-US" altLang="en-US" dirty="0"/>
              <a:t>Bảng don_vi l</a:t>
            </a:r>
            <a:r>
              <a:rPr lang="" altLang="en-US" dirty="0"/>
              <a:t>ư</a:t>
            </a:r>
            <a:r>
              <a:rPr lang="en-US" altLang="en-US" dirty="0"/>
              <a:t>u thông tin </a:t>
            </a:r>
            <a:r>
              <a:rPr lang="" altLang="en-US" dirty="0"/>
              <a:t>đ</a:t>
            </a:r>
            <a:r>
              <a:rPr lang="en-US" altLang="en-US" dirty="0"/>
              <a:t>ơn vị.</a:t>
            </a:r>
            <a:endParaRPr lang="en-US" altLang="en-US" dirty="0"/>
          </a:p>
          <a:p>
            <a:r>
              <a:rPr lang="en-US" altLang="en-US" dirty="0"/>
              <a:t>business_rule l</a:t>
            </a:r>
            <a:r>
              <a:rPr lang="" altLang="en-US" dirty="0"/>
              <a:t>ư</a:t>
            </a:r>
            <a:r>
              <a:rPr lang="en-US" altLang="en-US" dirty="0"/>
              <a:t>u các quy tắc YES hoặc NO, cùng với c</a:t>
            </a:r>
            <a:r>
              <a:rPr lang="" altLang="en-US" dirty="0"/>
              <a:t>ă</a:t>
            </a:r>
            <a:r>
              <a:rPr lang="en-US" altLang="en-US" dirty="0"/>
              <a:t>n cứ và thời gian hiệu lực.</a:t>
            </a:r>
            <a:endParaRPr lang="en-US" altLang="en-US" dirty="0"/>
          </a:p>
          <a:p>
            <a:r>
              <a:rPr lang="en-US" altLang="en-US" dirty="0"/>
              <a:t>ngoai_le_ca_nhan l</a:t>
            </a:r>
            <a:r>
              <a:rPr lang="" altLang="en-US" dirty="0"/>
              <a:t>ư</a:t>
            </a:r>
            <a:r>
              <a:rPr lang="en-US" altLang="en-US" dirty="0"/>
              <a:t>u tr</a:t>
            </a:r>
            <a:r>
              <a:rPr lang="" altLang="en-US" dirty="0"/>
              <a:t>ư</a:t>
            </a:r>
            <a:r>
              <a:rPr lang="en-US" altLang="en-US" dirty="0"/>
              <a:t>ờng hợp một nhân viên có kết quả riêng khác với rule thông th</a:t>
            </a:r>
            <a:r>
              <a:rPr lang="" altLang="en-US" dirty="0"/>
              <a:t>ư</a:t>
            </a:r>
            <a:r>
              <a:rPr lang="en-US" altLang="en-US" dirty="0"/>
              <a:t>ờng.</a:t>
            </a:r>
            <a:endParaRPr lang="en-US" altLang="en-US" dirty="0"/>
          </a:p>
          <a:p>
            <a:r>
              <a:rPr lang="en-US" altLang="en-US" dirty="0"/>
              <a:t>users và auth_sessions dùng cho tài khoản và phiên </a:t>
            </a:r>
            <a:r>
              <a:rPr lang="" altLang="en-US" dirty="0"/>
              <a:t>đă</a:t>
            </a:r>
            <a:r>
              <a:rPr lang="en-US" altLang="en-US" dirty="0"/>
              <a:t>ng nhập</a:t>
            </a:r>
            <a:endParaRPr lang="en-US"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Search Engine chịu trách nhiệm tìm </a:t>
            </a:r>
            <a:r>
              <a:rPr lang="" altLang="en-US" dirty="0"/>
              <a:t>đ</a:t>
            </a:r>
            <a:r>
              <a:rPr lang="en-US" altLang="en-US" dirty="0"/>
              <a:t>úng nhân viên hoặc </a:t>
            </a:r>
            <a:r>
              <a:rPr lang="" altLang="en-US" dirty="0"/>
              <a:t>đ</a:t>
            </a:r>
            <a:r>
              <a:rPr lang="en-US" altLang="en-US" dirty="0"/>
              <a:t>ơn vị mà ng</a:t>
            </a:r>
            <a:r>
              <a:rPr lang="" altLang="en-US" dirty="0"/>
              <a:t>ư</a:t>
            </a:r>
            <a:r>
              <a:rPr lang="en-US" altLang="en-US" dirty="0"/>
              <a:t>ời dùng muốn tra cứu.</a:t>
            </a:r>
            <a:endParaRPr lang="en-US" altLang="en-US" dirty="0"/>
          </a:p>
          <a:p>
            <a:r>
              <a:rPr lang="en-US" altLang="en-US" dirty="0"/>
              <a:t>Hệ thống hỗ trợ tìm theo mã nhân viên, tên nhân viên và tên </a:t>
            </a:r>
            <a:r>
              <a:rPr lang="" altLang="en-US" dirty="0"/>
              <a:t>đ</a:t>
            </a:r>
            <a:r>
              <a:rPr lang="en-US" altLang="en-US" dirty="0"/>
              <a:t>ơn vị. Với tiếng Việt, chuỗi </a:t>
            </a:r>
            <a:r>
              <a:rPr lang="" altLang="en-US" dirty="0"/>
              <a:t>đư</a:t>
            </a:r>
            <a:r>
              <a:rPr lang="en-US" altLang="en-US" dirty="0"/>
              <a:t>ợc chuẩn hóa </a:t>
            </a:r>
            <a:r>
              <a:rPr lang="" altLang="en-US" dirty="0"/>
              <a:t>đ</a:t>
            </a:r>
            <a:r>
              <a:rPr lang="en-US" altLang="en-US" dirty="0"/>
              <a:t>ể hỗ trợ tr</a:t>
            </a:r>
            <a:r>
              <a:rPr lang="" altLang="en-US" dirty="0"/>
              <a:t>ư</a:t>
            </a:r>
            <a:r>
              <a:rPr lang="en-US" altLang="en-US" dirty="0"/>
              <a:t>ờng hợp không dấu, khác chữ hoa chữ th</a:t>
            </a:r>
            <a:r>
              <a:rPr lang="" altLang="en-US" dirty="0"/>
              <a:t>ư</a:t>
            </a:r>
            <a:r>
              <a:rPr lang="en-US" altLang="en-US" dirty="0"/>
              <a:t>ờng hoặc có khoảng trắng d</a:t>
            </a:r>
            <a:r>
              <a:rPr lang="" altLang="en-US" dirty="0"/>
              <a:t>ư.</a:t>
            </a:r>
            <a:endParaRPr lang="en-US" altLang="en-US" dirty="0"/>
          </a:p>
          <a:p>
            <a:r>
              <a:rPr lang="en-US" altLang="en-US" dirty="0"/>
              <a:t>Thứ tự tìm kiếm là EXACT, TOKEN, PARTIAL và cuối cùng mới tới FUZZY.”</a:t>
            </a:r>
            <a:endParaRPr lang="en-US" altLang="en-US" dirty="0"/>
          </a:p>
          <a:p>
            <a:r>
              <a:rPr lang="en-US" altLang="en-US" dirty="0"/>
              <a:t>Giải thích từng cái:</a:t>
            </a:r>
            <a:endParaRPr lang="en-US" altLang="en-US" dirty="0"/>
          </a:p>
          <a:p>
            <a:r>
              <a:rPr lang="en-US" altLang="en-US" dirty="0"/>
              <a:t>“EXACT là khớp chính xác. TOKEN là khớp theo một từ. PARTIAL là khớp một phần chuỗi. FUZZY là tìm gần </a:t>
            </a:r>
            <a:r>
              <a:rPr lang="" altLang="en-US" dirty="0"/>
              <a:t>đ</a:t>
            </a:r>
            <a:r>
              <a:rPr lang="en-US" altLang="en-US" dirty="0"/>
              <a:t>úng khi ng</a:t>
            </a:r>
            <a:r>
              <a:rPr lang="" altLang="en-US" dirty="0"/>
              <a:t>ư</a:t>
            </a:r>
            <a:r>
              <a:rPr lang="en-US" altLang="en-US" dirty="0"/>
              <a:t>ời dùng g</a:t>
            </a:r>
            <a:r>
              <a:rPr lang="" altLang="en-US" dirty="0"/>
              <a:t>õ </a:t>
            </a:r>
            <a:r>
              <a:rPr lang="en-US" altLang="en-US" dirty="0"/>
              <a:t>sai nhẹ.”</a:t>
            </a:r>
            <a:endParaRPr lang="en-US" altLang="en-US" dirty="0"/>
          </a:p>
          <a:p>
            <a:r>
              <a:rPr lang="en-US" altLang="en-US" dirty="0"/>
              <a:t>Search Engine sử dụng thứ tự này và RapidFuzz ở b</a:t>
            </a:r>
            <a:r>
              <a:rPr lang="" altLang="en-US" dirty="0"/>
              <a:t>ư</a:t>
            </a:r>
            <a:r>
              <a:rPr lang="en-US" altLang="en-US" dirty="0"/>
              <a:t>ớc tìm gần </a:t>
            </a:r>
            <a:r>
              <a:rPr lang="" altLang="en-US" dirty="0"/>
              <a:t>đ</a:t>
            </a:r>
            <a:r>
              <a:rPr lang="en-US" altLang="en-US" dirty="0"/>
              <a:t>úng.</a:t>
            </a:r>
            <a:endParaRPr lang="en-US" altLang="en-US" dirty="0"/>
          </a:p>
          <a:p>
            <a:r>
              <a:rPr lang="" altLang="en-US" dirty="0"/>
              <a:t>Đ</a:t>
            </a:r>
            <a:r>
              <a:rPr lang="en-US" altLang="en-US" dirty="0"/>
              <a:t>iểm nên nói r</a:t>
            </a:r>
            <a:r>
              <a:rPr lang="" altLang="en-US" dirty="0"/>
              <a:t>õ:</a:t>
            </a:r>
            <a:endParaRPr lang="en-US" altLang="en-US" dirty="0"/>
          </a:p>
          <a:p>
            <a:r>
              <a:rPr lang="en-US" altLang="en-US" dirty="0"/>
              <a:t>“Riêng mã nhân viên chỉ tìm Exact Match. Ví dụ ng</a:t>
            </a:r>
            <a:r>
              <a:rPr lang="" altLang="en-US" dirty="0"/>
              <a:t>ư</a:t>
            </a:r>
            <a:r>
              <a:rPr lang="en-US" altLang="en-US" dirty="0"/>
              <a:t>ời dùng tìm NV001 mà không có thì hệ thống không tự suy ra NV002. Vì mã nhân viên là </a:t>
            </a:r>
            <a:r>
              <a:rPr lang="" altLang="en-US" dirty="0"/>
              <a:t>đ</a:t>
            </a:r>
            <a:r>
              <a:rPr lang="en-US" altLang="en-US" dirty="0"/>
              <a:t>ịnh danh nên fuzzy ở </a:t>
            </a:r>
            <a:r>
              <a:rPr lang="" altLang="en-US" dirty="0"/>
              <a:t>đ</a:t>
            </a:r>
            <a:r>
              <a:rPr lang="en-US" altLang="en-US" dirty="0"/>
              <a:t>ây có thể trả sai ng</a:t>
            </a:r>
            <a:r>
              <a:rPr lang="" altLang="en-US" dirty="0"/>
              <a:t>ư</a:t>
            </a:r>
            <a:r>
              <a:rPr lang="en-US" altLang="en-US" dirty="0"/>
              <a:t>ời.”</a:t>
            </a:r>
            <a:endParaRPr lang="en-US"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Sau khi Search Engine tìm </a:t>
            </a:r>
            <a:r>
              <a:rPr lang="" altLang="en-US" dirty="0"/>
              <a:t>đư</a:t>
            </a:r>
            <a:r>
              <a:rPr lang="en-US" altLang="en-US" dirty="0"/>
              <a:t>ợc nhân viên, Rule Engine mới bắt </a:t>
            </a:r>
            <a:r>
              <a:rPr lang="" altLang="en-US" dirty="0"/>
              <a:t>đ</a:t>
            </a:r>
            <a:r>
              <a:rPr lang="en-US" altLang="en-US" dirty="0"/>
              <a:t>ầu xác </a:t>
            </a:r>
            <a:r>
              <a:rPr lang="" altLang="en-US" dirty="0"/>
              <a:t>đ</a:t>
            </a:r>
            <a:r>
              <a:rPr lang="en-US" altLang="en-US" dirty="0"/>
              <a:t>ịnh trạng thái chi trả.</a:t>
            </a:r>
            <a:endParaRPr lang="en-US" altLang="en-US" dirty="0"/>
          </a:p>
          <a:p>
            <a:r>
              <a:rPr lang="en-US" altLang="en-US" dirty="0"/>
              <a:t>Thứ tự xử l</a:t>
            </a:r>
            <a:r>
              <a:rPr lang="" altLang="en-US" dirty="0"/>
              <a:t>ý </a:t>
            </a:r>
            <a:r>
              <a:rPr lang="en-US" altLang="en-US" dirty="0"/>
              <a:t>của nhóm em là: </a:t>
            </a:r>
            <a:r>
              <a:rPr lang="" altLang="en-US" dirty="0"/>
              <a:t>đ</a:t>
            </a:r>
            <a:r>
              <a:rPr lang="en-US" altLang="en-US" dirty="0"/>
              <a:t>ầu tiên kiểm tra ngoại lệ cá nhân. Nếu không có thì kiểm tra rule theo </a:t>
            </a:r>
            <a:r>
              <a:rPr lang="" altLang="en-US" dirty="0"/>
              <a:t>đ</a:t>
            </a:r>
            <a:r>
              <a:rPr lang="en-US" altLang="en-US" dirty="0"/>
              <a:t>ơn vị. Nếu ch</a:t>
            </a:r>
            <a:r>
              <a:rPr lang="" altLang="en-US" dirty="0"/>
              <a:t>ư</a:t>
            </a:r>
            <a:r>
              <a:rPr lang="en-US" altLang="en-US" dirty="0"/>
              <a:t>a có thì kiểm tra rule theo loại </a:t>
            </a:r>
            <a:r>
              <a:rPr lang="" altLang="en-US" dirty="0"/>
              <a:t>đ</a:t>
            </a:r>
            <a:r>
              <a:rPr lang="en-US" altLang="en-US" dirty="0"/>
              <a:t>ơn vị. Nếu vẫn không có rule phù hợp thì trả CHUA_XAC_DINH.”</a:t>
            </a:r>
            <a:endParaRPr lang="en-US" altLang="en-US" dirty="0"/>
          </a:p>
          <a:p>
            <a:r>
              <a:rPr lang="en-US" altLang="en-US" dirty="0"/>
              <a:t>Rule Engine là thành phần </a:t>
            </a:r>
            <a:r>
              <a:rPr lang="" altLang="en-US" dirty="0"/>
              <a:t>đư</a:t>
            </a:r>
            <a:r>
              <a:rPr lang="en-US" altLang="en-US" dirty="0"/>
              <a:t>a ra quyết </a:t>
            </a:r>
            <a:r>
              <a:rPr lang="" altLang="en-US" dirty="0"/>
              <a:t>đ</a:t>
            </a:r>
            <a:r>
              <a:rPr lang="en-US" altLang="en-US" dirty="0"/>
              <a:t>ịnh nghiệp vụ.</a:t>
            </a:r>
            <a:endParaRPr lang="en-US" altLang="en-US" dirty="0"/>
          </a:p>
          <a:p>
            <a:r>
              <a:rPr lang="en-US" altLang="en-US" dirty="0"/>
              <a:t>Cho một ví dụ: Ví dụ </a:t>
            </a:r>
            <a:r>
              <a:rPr lang="" altLang="en-US" dirty="0"/>
              <a:t>đ</a:t>
            </a:r>
            <a:r>
              <a:rPr lang="en-US" altLang="en-US" dirty="0"/>
              <a:t>ơn vị của NV001 có rule YES. Bình th</a:t>
            </a:r>
            <a:r>
              <a:rPr lang="" altLang="en-US" dirty="0"/>
              <a:t>ư</a:t>
            </a:r>
            <a:r>
              <a:rPr lang="en-US" altLang="en-US" dirty="0"/>
              <a:t>ờng NV001 sẽ nhận YES. Nh</a:t>
            </a:r>
            <a:r>
              <a:rPr lang="" altLang="en-US" dirty="0"/>
              <a:t>ư</a:t>
            </a:r>
            <a:r>
              <a:rPr lang="en-US" altLang="en-US" dirty="0"/>
              <a:t>ng nếu NV001 có ngoại lệ cá nhân là NO thì kết quả cuối cùng phải là NO vì ngoại lệ cá nhân có mức </a:t>
            </a:r>
            <a:r>
              <a:rPr lang="" altLang="en-US" dirty="0"/>
              <a:t>ư</a:t>
            </a:r>
            <a:r>
              <a:rPr lang="en-US" altLang="en-US" dirty="0"/>
              <a:t>u tiên cao hơn.”</a:t>
            </a:r>
            <a:endParaRPr lang="en-US" altLang="en-US" dirty="0"/>
          </a:p>
          <a:p>
            <a:r>
              <a:rPr lang="en-US" altLang="en-US" dirty="0"/>
              <a:t>Nói tiếp: “Rule Engine còn kiểm tra trạng thái rule, ngày hiệu lực và ngày hết hiệu lực. Rule ch</a:t>
            </a:r>
            <a:r>
              <a:rPr lang="" altLang="en-US" dirty="0"/>
              <a:t>ư</a:t>
            </a:r>
            <a:r>
              <a:rPr lang="en-US" altLang="en-US" dirty="0"/>
              <a:t>a tới ngày áp dụng, </a:t>
            </a:r>
            <a:r>
              <a:rPr lang="" altLang="en-US" dirty="0"/>
              <a:t>đ</a:t>
            </a:r>
            <a:r>
              <a:rPr lang="en-US" altLang="en-US" dirty="0"/>
              <a:t>ã hết hạn hoặc inactive sẽ không </a:t>
            </a:r>
            <a:r>
              <a:rPr lang="" altLang="en-US" dirty="0"/>
              <a:t>đư</a:t>
            </a:r>
            <a:r>
              <a:rPr lang="en-US" altLang="en-US" dirty="0"/>
              <a:t>ợc sử dụng.”</a:t>
            </a:r>
            <a:endParaRPr lang="en-US" altLang="en-US" dirty="0"/>
          </a:p>
          <a:p>
            <a:r>
              <a:rPr lang="en-US" altLang="en-US" dirty="0"/>
              <a:t>Câu chốt slide: “Search Engine trả lời ‘</a:t>
            </a:r>
            <a:r>
              <a:rPr lang="" altLang="en-US" dirty="0"/>
              <a:t>đ</a:t>
            </a:r>
            <a:r>
              <a:rPr lang="en-US" altLang="en-US" dirty="0"/>
              <a:t>ang tìm ai’, còn Rule Engine trả lời ‘</a:t>
            </a:r>
            <a:r>
              <a:rPr lang="" altLang="en-US" dirty="0"/>
              <a:t>đ</a:t>
            </a:r>
            <a:r>
              <a:rPr lang="en-US" altLang="en-US" dirty="0"/>
              <a:t>ối t</a:t>
            </a:r>
            <a:r>
              <a:rPr lang="" altLang="en-US" dirty="0"/>
              <a:t>ư</a:t>
            </a:r>
            <a:r>
              <a:rPr lang="en-US" altLang="en-US" dirty="0"/>
              <a:t>ợng </a:t>
            </a:r>
            <a:r>
              <a:rPr lang="" altLang="en-US" dirty="0"/>
              <a:t>đ</a:t>
            </a:r>
            <a:r>
              <a:rPr lang="en-US" altLang="en-US" dirty="0"/>
              <a:t>ó có kết quả nghiệp vụ gì’.”</a:t>
            </a:r>
            <a:endParaRPr lang="en-US"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“Hệ thống có hai role chính là ADMIN và USER.</a:t>
            </a:r>
            <a:endParaRPr lang="en-US" altLang="en-US" dirty="0"/>
          </a:p>
          <a:p>
            <a:r>
              <a:rPr lang="en-US" altLang="en-US" dirty="0"/>
              <a:t>ADMIN có quyền nhập dữ liệu, quản l</a:t>
            </a:r>
            <a:r>
              <a:rPr lang="" altLang="en-US" dirty="0"/>
              <a:t>ý </a:t>
            </a:r>
            <a:r>
              <a:rPr lang="en-US" altLang="en-US" dirty="0"/>
              <a:t>nhân viên, Business Rule, ngoại lệ và các chức n</a:t>
            </a:r>
            <a:r>
              <a:rPr lang="" altLang="en-US" dirty="0"/>
              <a:t>ă</a:t>
            </a:r>
            <a:r>
              <a:rPr lang="en-US" altLang="en-US" dirty="0"/>
              <a:t>ng quản trị.</a:t>
            </a:r>
            <a:endParaRPr lang="en-US" altLang="en-US" dirty="0"/>
          </a:p>
          <a:p>
            <a:r>
              <a:rPr lang="en-US" altLang="en-US" dirty="0"/>
              <a:t>USER dùng </a:t>
            </a:r>
            <a:r>
              <a:rPr lang="" altLang="en-US" dirty="0"/>
              <a:t>đ</a:t>
            </a:r>
            <a:r>
              <a:rPr lang="en-US" altLang="en-US" dirty="0"/>
              <a:t>ể </a:t>
            </a:r>
            <a:r>
              <a:rPr lang="" altLang="en-US" dirty="0"/>
              <a:t>đă</a:t>
            </a:r>
            <a:r>
              <a:rPr lang="en-US" altLang="en-US" dirty="0"/>
              <a:t>ng nhập, </a:t>
            </a:r>
            <a:r>
              <a:rPr lang="" altLang="en-US" dirty="0"/>
              <a:t>đ</a:t>
            </a:r>
            <a:r>
              <a:rPr lang="en-US" altLang="en-US" dirty="0"/>
              <a:t>ổi mật khẩu và tra cứu kết quả. Quyền </a:t>
            </a:r>
            <a:r>
              <a:rPr lang="" altLang="en-US" dirty="0"/>
              <a:t>đư</a:t>
            </a:r>
            <a:r>
              <a:rPr lang="en-US" altLang="en-US" dirty="0"/>
              <a:t>ợc kiểm tra thật ở Backend, không phải chỉ ẩn menu trên giao diện. Nếu USER cố gọi API của ADMIN thì Backend trả lỗi 403.”</a:t>
            </a:r>
            <a:endParaRPr lang="en-US" altLang="en-US" dirty="0"/>
          </a:p>
          <a:p>
            <a:r>
              <a:rPr lang="en-US" altLang="en-US" dirty="0"/>
              <a:t>Báo cáo hiện mô tả USER chủ yếu dùng chức n</a:t>
            </a:r>
            <a:r>
              <a:rPr lang="" altLang="en-US" dirty="0"/>
              <a:t>ă</a:t>
            </a:r>
            <a:r>
              <a:rPr lang="en-US" altLang="en-US" dirty="0"/>
              <a:t>ng tra cứu.</a:t>
            </a:r>
            <a:endParaRPr lang="en-US" altLang="en-US" dirty="0"/>
          </a:p>
          <a:p>
            <a:r>
              <a:rPr lang="en-US" altLang="en-US" dirty="0"/>
              <a:t>Phần tài khoản: “Khi Commit một nhân viên mới có email, hệ thống có thể tự tạo tài khoản USER. Username là mã nhân viên, mật khẩu ban </a:t>
            </a:r>
            <a:r>
              <a:rPr lang="" altLang="en-US" dirty="0"/>
              <a:t>đ</a:t>
            </a:r>
            <a:r>
              <a:rPr lang="en-US" altLang="en-US" dirty="0"/>
              <a:t>ầu </a:t>
            </a:r>
            <a:r>
              <a:rPr lang="" altLang="en-US" dirty="0"/>
              <a:t>đư</a:t>
            </a:r>
            <a:r>
              <a:rPr lang="en-US" altLang="en-US" dirty="0"/>
              <a:t>ợc tạo từ phần </a:t>
            </a:r>
            <a:r>
              <a:rPr lang="" altLang="en-US" dirty="0"/>
              <a:t>đ</a:t>
            </a:r>
            <a:r>
              <a:rPr lang="en-US" altLang="en-US" dirty="0"/>
              <a:t>ứng tr</a:t>
            </a:r>
            <a:r>
              <a:rPr lang="" altLang="en-US" dirty="0"/>
              <a:t>ư</a:t>
            </a:r>
            <a:r>
              <a:rPr lang="en-US" altLang="en-US" dirty="0"/>
              <a:t>ớc dấu @ của email và ng</a:t>
            </a:r>
            <a:r>
              <a:rPr lang="" altLang="en-US" dirty="0"/>
              <a:t>ư</a:t>
            </a:r>
            <a:r>
              <a:rPr lang="en-US" altLang="en-US" dirty="0"/>
              <a:t>ời dùng phải </a:t>
            </a:r>
            <a:r>
              <a:rPr lang="" altLang="en-US" dirty="0"/>
              <a:t>đ</a:t>
            </a:r>
            <a:r>
              <a:rPr lang="en-US" altLang="en-US" dirty="0"/>
              <a:t>ổi mật khẩu sau lần </a:t>
            </a:r>
            <a:r>
              <a:rPr lang="" altLang="en-US" dirty="0"/>
              <a:t>đă</a:t>
            </a:r>
            <a:r>
              <a:rPr lang="en-US" altLang="en-US" dirty="0"/>
              <a:t>ng nhập </a:t>
            </a:r>
            <a:r>
              <a:rPr lang="" altLang="en-US" dirty="0"/>
              <a:t>đ</a:t>
            </a:r>
            <a:r>
              <a:rPr lang="en-US" altLang="en-US" dirty="0"/>
              <a:t>ầu tiên.”</a:t>
            </a:r>
            <a:endParaRPr lang="en-US"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1051560"/>
            <a:ext cx="10698480" cy="365760"/>
          </a:xfrm>
          <a:prstGeom prst="rect">
            <a:avLst/>
          </a:prstGeom>
          <a:noFill/>
        </p:spPr>
        <p:txBody>
          <a:bodyPr wrap="square" lIns="0" tIns="0" rIns="0" bIns="0" rtlCol="0" anchor="ctr"/>
          <a:lstStyle/>
          <a:p>
            <a:pPr marL="0" indent="0" algn="ctr">
              <a:buNone/>
            </a:pPr>
            <a:r>
              <a:rPr lang="en-US" sz="2300" b="1" dirty="0">
                <a:solidFill>
                  <a:srgbClr val="111111"/>
                </a:solidFill>
                <a:latin typeface="Arial" panose="020B0604020202020204" pitchFamily="34" charset="0"/>
                <a:ea typeface="Arial" panose="020B0604020202020204" pitchFamily="34" charset="-122"/>
                <a:cs typeface="Arial" panose="020B0604020202020204" pitchFamily="34" charset="-120"/>
              </a:rPr>
              <a:t>BÁO CÁO KỸ THUẬT</a:t>
            </a:r>
            <a:endParaRPr lang="en-US" sz="2300" dirty="0"/>
          </a:p>
        </p:txBody>
      </p:sp>
      <p:sp>
        <p:nvSpPr>
          <p:cNvPr id="3" name="Text 1"/>
          <p:cNvSpPr/>
          <p:nvPr/>
        </p:nvSpPr>
        <p:spPr>
          <a:xfrm>
            <a:off x="731520" y="1600200"/>
            <a:ext cx="10698480" cy="502920"/>
          </a:xfrm>
          <a:prstGeom prst="rect">
            <a:avLst/>
          </a:prstGeom>
          <a:noFill/>
        </p:spPr>
        <p:txBody>
          <a:bodyPr wrap="square" lIns="0" tIns="0" rIns="0" bIns="0" rtlCol="0" anchor="ctr"/>
          <a:lstStyle/>
          <a:p>
            <a:pPr marL="0" indent="0" algn="ctr">
              <a:buNone/>
            </a:pPr>
            <a:r>
              <a:rPr lang="en-US" sz="2800" b="1" dirty="0">
                <a:solidFill>
                  <a:srgbClr val="111111"/>
                </a:solidFill>
                <a:latin typeface="Arial" panose="020B0604020202020204" pitchFamily="34" charset="0"/>
                <a:ea typeface="Arial" panose="020B0604020202020204" pitchFamily="34" charset="-122"/>
                <a:cs typeface="Arial" panose="020B0604020202020204" pitchFamily="34" charset="-120"/>
              </a:rPr>
              <a:t>HỆ THỐNG PAYROLLCHECK</a:t>
            </a:r>
            <a:endParaRPr lang="en-US" sz="2800" dirty="0"/>
          </a:p>
        </p:txBody>
      </p:sp>
      <p:sp>
        <p:nvSpPr>
          <p:cNvPr id="4" name="Shape 2"/>
          <p:cNvSpPr/>
          <p:nvPr/>
        </p:nvSpPr>
        <p:spPr>
          <a:xfrm>
            <a:off x="2194560" y="2331720"/>
            <a:ext cx="7772400" cy="0"/>
          </a:xfrm>
          <a:prstGeom prst="line">
            <a:avLst/>
          </a:prstGeom>
          <a:noFill/>
          <a:ln w="15240">
            <a:solidFill>
              <a:srgbClr val="D9D9D9"/>
            </a:solidFill>
            <a:prstDash val="solid"/>
          </a:ln>
        </p:spPr>
      </p:sp>
      <p:sp>
        <p:nvSpPr>
          <p:cNvPr id="5" name="Text 3"/>
          <p:cNvSpPr/>
          <p:nvPr/>
        </p:nvSpPr>
        <p:spPr>
          <a:xfrm>
            <a:off x="1325880" y="2743200"/>
            <a:ext cx="9555480" cy="365760"/>
          </a:xfrm>
          <a:prstGeom prst="rect">
            <a:avLst/>
          </a:prstGeom>
          <a:noFill/>
        </p:spPr>
        <p:txBody>
          <a:bodyPr wrap="square" lIns="0" tIns="0" rIns="0" bIns="0" rtlCol="0" anchor="ctr"/>
          <a:lstStyle/>
          <a:p>
            <a:pPr marL="0" indent="0" algn="ctr">
              <a:buNone/>
            </a:pPr>
            <a:r>
              <a:rPr lang="en-US" sz="1800" dirty="0">
                <a:solidFill>
                  <a:srgbClr val="111111"/>
                </a:solidFill>
                <a:latin typeface="Arial" panose="020B0604020202020204" pitchFamily="34" charset="0"/>
                <a:ea typeface="Arial" panose="020B0604020202020204" pitchFamily="34" charset="-122"/>
                <a:cs typeface="Arial" panose="020B0604020202020204" pitchFamily="34" charset="-120"/>
              </a:rPr>
              <a:t>Hệ thống tra cứu và xác định trạng thái chi trả theo quy tắc nghiệp vụ</a:t>
            </a:r>
            <a:endParaRPr lang="en-US" sz="1800" dirty="0"/>
          </a:p>
        </p:txBody>
      </p:sp>
      <p:sp>
        <p:nvSpPr>
          <p:cNvPr id="6" name="Text 4"/>
          <p:cNvSpPr/>
          <p:nvPr/>
        </p:nvSpPr>
        <p:spPr>
          <a:xfrm>
            <a:off x="1325880" y="3246120"/>
            <a:ext cx="9555480" cy="365760"/>
          </a:xfrm>
          <a:prstGeom prst="rect">
            <a:avLst/>
          </a:prstGeom>
          <a:noFill/>
        </p:spPr>
        <p:txBody>
          <a:bodyPr wrap="square" lIns="0" tIns="0" rIns="0" bIns="0" rtlCol="0" anchor="ctr"/>
          <a:lstStyle/>
          <a:p>
            <a:pPr marL="0" indent="0" algn="ctr">
              <a:buNone/>
            </a:pPr>
            <a:r>
              <a:rPr lang="en-US" sz="1800" dirty="0">
                <a:solidFill>
                  <a:srgbClr val="111111"/>
                </a:solidFill>
                <a:latin typeface="Arial" panose="020B0604020202020204" pitchFamily="34" charset="0"/>
                <a:ea typeface="Arial" panose="020B0604020202020204" pitchFamily="34" charset="-122"/>
                <a:cs typeface="Arial" panose="020B0604020202020204" pitchFamily="34" charset="-120"/>
              </a:rPr>
              <a:t>Nhóm 1</a:t>
            </a:r>
            <a:endParaRPr lang="en-US" sz="1800" dirty="0"/>
          </a:p>
        </p:txBody>
      </p:sp>
      <p:sp>
        <p:nvSpPr>
          <p:cNvPr id="7" name="Shape 5"/>
          <p:cNvSpPr/>
          <p:nvPr/>
        </p:nvSpPr>
        <p:spPr>
          <a:xfrm>
            <a:off x="1371600" y="4297680"/>
            <a:ext cx="9418320" cy="594360"/>
          </a:xfrm>
          <a:prstGeom prst="rect">
            <a:avLst/>
          </a:prstGeom>
          <a:solidFill>
            <a:srgbClr val="F4F4F4"/>
          </a:solidFill>
          <a:ln w="10160">
            <a:solidFill>
              <a:srgbClr val="111111"/>
            </a:solidFill>
            <a:prstDash val="solid"/>
          </a:ln>
        </p:spPr>
      </p:sp>
      <p:sp>
        <p:nvSpPr>
          <p:cNvPr id="8" name="Text 6"/>
          <p:cNvSpPr/>
          <p:nvPr/>
        </p:nvSpPr>
        <p:spPr>
          <a:xfrm>
            <a:off x="1444752" y="4343400"/>
            <a:ext cx="9272016" cy="502920"/>
          </a:xfrm>
          <a:prstGeom prst="rect">
            <a:avLst/>
          </a:prstGeom>
          <a:noFill/>
        </p:spPr>
        <p:txBody>
          <a:bodyPr wrap="square" lIns="254" tIns="254" rIns="254" bIns="254" rtlCol="0" anchor="ctr">
            <a:normAutofit/>
          </a:bodyPr>
          <a:lstStyle/>
          <a:p>
            <a:pPr marL="0" indent="0" algn="ctr">
              <a:buNone/>
            </a:pPr>
            <a:r>
              <a:rPr lang="en-US" sz="1700" dirty="0">
                <a:solidFill>
                  <a:srgbClr val="111111"/>
                </a:solidFill>
                <a:latin typeface="Arial" panose="020B0604020202020204" pitchFamily="34" charset="0"/>
                <a:ea typeface="Arial" panose="020B0604020202020204" pitchFamily="34" charset="-122"/>
                <a:cs typeface="Arial" panose="020B0604020202020204" pitchFamily="34" charset="-120"/>
              </a:rPr>
              <a:t>Input → Mapping → Validation → SQLite → Search → Rule Engine → UI</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20040"/>
            <a:ext cx="11201400" cy="384048"/>
          </a:xfrm>
          <a:prstGeom prst="rect">
            <a:avLst/>
          </a:prstGeom>
          <a:noFill/>
        </p:spPr>
        <p:txBody>
          <a:bodyPr wrap="square" lIns="0" tIns="0" rIns="0" bIns="0" rtlCol="0" anchor="ctr"/>
          <a:lstStyle/>
          <a:p>
            <a:pPr marL="0" indent="0">
              <a:buNone/>
            </a:pPr>
            <a:r>
              <a:rPr lang="en-US" sz="2300" b="1" dirty="0">
                <a:solidFill>
                  <a:srgbClr val="111111"/>
                </a:solidFill>
                <a:latin typeface="Arial" panose="020B0604020202020204" pitchFamily="34" charset="0"/>
                <a:ea typeface="Arial" panose="020B0604020202020204" pitchFamily="34" charset="-122"/>
                <a:cs typeface="Arial" panose="020B0604020202020204" pitchFamily="34" charset="-120"/>
              </a:rPr>
              <a:t>1. Mục tiêu và phạm vi hệ thống</a:t>
            </a:r>
            <a:endParaRPr lang="en-US" sz="2300" dirty="0"/>
          </a:p>
        </p:txBody>
      </p:sp>
      <p:sp>
        <p:nvSpPr>
          <p:cNvPr id="3" name="Shape 1"/>
          <p:cNvSpPr/>
          <p:nvPr/>
        </p:nvSpPr>
        <p:spPr>
          <a:xfrm>
            <a:off x="502920" y="804672"/>
            <a:ext cx="11201400" cy="0"/>
          </a:xfrm>
          <a:prstGeom prst="line">
            <a:avLst/>
          </a:prstGeom>
          <a:noFill/>
          <a:ln w="12700">
            <a:solidFill>
              <a:srgbClr val="D9D9D9"/>
            </a:solidFill>
            <a:prstDash val="solid"/>
          </a:ln>
        </p:spPr>
      </p:sp>
      <p:sp>
        <p:nvSpPr>
          <p:cNvPr id="4" name="Text 2"/>
          <p:cNvSpPr/>
          <p:nvPr/>
        </p:nvSpPr>
        <p:spPr>
          <a:xfrm>
            <a:off x="594360" y="1051560"/>
            <a:ext cx="5760720" cy="822960"/>
          </a:xfrm>
          <a:prstGeom prst="rect">
            <a:avLst/>
          </a:prstGeom>
          <a:noFill/>
        </p:spPr>
        <p:txBody>
          <a:bodyPr wrap="square" lIns="381" tIns="381" rIns="381" bIns="381" rtlCol="0" anchor="ctr">
            <a:normAutofit/>
          </a:bodyPr>
          <a:lstStyle/>
          <a:p>
            <a:pPr marL="0" indent="0">
              <a:buNone/>
            </a:pPr>
            <a:r>
              <a:rPr lang="en-US" sz="1800" dirty="0">
                <a:solidFill>
                  <a:srgbClr val="111111"/>
                </a:solidFill>
                <a:latin typeface="Arial" panose="020B0604020202020204" pitchFamily="34" charset="0"/>
                <a:ea typeface="Arial" panose="020B0604020202020204" pitchFamily="34" charset="-122"/>
                <a:cs typeface="Arial" panose="020B0604020202020204" pitchFamily="34" charset="-120"/>
              </a:rPr>
              <a:t>PayrollCheck hỗ trợ quản lý dữ liệu nhân sự, nhập và chuẩn hóa dữ liệu, tra cứu nhân viên/đơn vị và xác định trạng thái chi trả theo Business Rule.</a:t>
            </a:r>
            <a:endParaRPr lang="en-US" sz="1800" dirty="0"/>
          </a:p>
        </p:txBody>
      </p:sp>
      <p:sp>
        <p:nvSpPr>
          <p:cNvPr id="5" name="Text 3"/>
          <p:cNvSpPr/>
          <p:nvPr/>
        </p:nvSpPr>
        <p:spPr>
          <a:xfrm>
            <a:off x="731520" y="2103120"/>
            <a:ext cx="4250690" cy="3189605"/>
          </a:xfrm>
          <a:prstGeom prst="rect">
            <a:avLst/>
          </a:prstGeom>
          <a:noFill/>
        </p:spPr>
        <p:txBody>
          <a:bodyPr wrap="square" lIns="381" tIns="381" rIns="381" bIns="381" rtlCol="0" anchor="ctr">
            <a:normAutofit lnSpcReduction="10000"/>
          </a:bodyPr>
          <a:lstStyle/>
          <a:p>
            <a:pPr marL="228600" indent="-228600">
              <a:lnSpc>
                <a:spcPct val="150000"/>
              </a:lnSpc>
              <a:buSzPct val="100000"/>
              <a:buChar char="•"/>
            </a:pPr>
            <a:r>
              <a:rPr lang="en-US" sz="1800" dirty="0">
                <a:solidFill>
                  <a:srgbClr val="111111"/>
                </a:solidFill>
                <a:latin typeface="Arial" panose="020B0604020202020204" pitchFamily="34" charset="0"/>
                <a:ea typeface="Arial" panose="020B0604020202020204" pitchFamily="34" charset="-122"/>
                <a:cs typeface="Arial" panose="020B0604020202020204" pitchFamily="34" charset="-120"/>
              </a:rPr>
              <a:t>AI chỉ hỗ trợ đọc hiểu dữ liệu đầu vào và ánh xạ tên trường.</a:t>
            </a:r>
            <a:endParaRPr lang="en-US" sz="1800" dirty="0"/>
          </a:p>
          <a:p>
            <a:pPr marL="228600" indent="-228600">
              <a:lnSpc>
                <a:spcPct val="150000"/>
              </a:lnSpc>
              <a:buSzPct val="100000"/>
              <a:buChar char="•"/>
            </a:pPr>
            <a:r>
              <a:rPr lang="en-US" sz="1800" dirty="0">
                <a:solidFill>
                  <a:srgbClr val="111111"/>
                </a:solidFill>
                <a:latin typeface="Arial" panose="020B0604020202020204" pitchFamily="34" charset="0"/>
                <a:ea typeface="Arial" panose="020B0604020202020204" pitchFamily="34" charset="-122"/>
                <a:cs typeface="Arial" panose="020B0604020202020204" pitchFamily="34" charset="-120"/>
              </a:rPr>
              <a:t>Search Engine chỉ tìm đúng đối tượng cần tra cứu.</a:t>
            </a:r>
            <a:endParaRPr lang="en-US" sz="1800" dirty="0"/>
          </a:p>
          <a:p>
            <a:pPr marL="228600" indent="-228600">
              <a:lnSpc>
                <a:spcPct val="150000"/>
              </a:lnSpc>
              <a:buSzPct val="100000"/>
              <a:buChar char="•"/>
            </a:pPr>
            <a:r>
              <a:rPr lang="en-US" sz="1800" dirty="0">
                <a:solidFill>
                  <a:srgbClr val="111111"/>
                </a:solidFill>
                <a:latin typeface="Arial" panose="020B0604020202020204" pitchFamily="34" charset="0"/>
                <a:ea typeface="Arial" panose="020B0604020202020204" pitchFamily="34" charset="-122"/>
                <a:cs typeface="Arial" panose="020B0604020202020204" pitchFamily="34" charset="-120"/>
              </a:rPr>
              <a:t>Rule Engine mới quyết định YES / NO / CHUA_XAC_DINH.</a:t>
            </a:r>
            <a:endParaRPr lang="en-US" sz="1800" dirty="0"/>
          </a:p>
          <a:p>
            <a:pPr marL="228600" indent="-228600">
              <a:lnSpc>
                <a:spcPct val="150000"/>
              </a:lnSpc>
              <a:buSzPct val="100000"/>
              <a:buChar char="•"/>
            </a:pPr>
            <a:r>
              <a:rPr lang="en-US" sz="1800" dirty="0">
                <a:solidFill>
                  <a:srgbClr val="111111"/>
                </a:solidFill>
                <a:latin typeface="Arial" panose="020B0604020202020204" pitchFamily="34" charset="0"/>
                <a:ea typeface="Arial" panose="020B0604020202020204" pitchFamily="34" charset="-122"/>
                <a:cs typeface="Arial" panose="020B0604020202020204" pitchFamily="34" charset="-120"/>
              </a:rPr>
              <a:t>Backend kiểm tra phân quyền thật, không chỉ ẩn menu trên giao diện.</a:t>
            </a:r>
            <a:endParaRPr lang="en-US" sz="1800" dirty="0"/>
          </a:p>
        </p:txBody>
      </p:sp>
      <p:sp>
        <p:nvSpPr>
          <p:cNvPr id="6" name="Shape 4"/>
          <p:cNvSpPr/>
          <p:nvPr/>
        </p:nvSpPr>
        <p:spPr>
          <a:xfrm>
            <a:off x="6812280" y="1325880"/>
            <a:ext cx="4754880" cy="3657600"/>
          </a:xfrm>
          <a:prstGeom prst="rect">
            <a:avLst/>
          </a:prstGeom>
          <a:solidFill>
            <a:srgbClr val="FFFFFF">
              <a:alpha val="0"/>
            </a:srgbClr>
          </a:solidFill>
          <a:ln w="12700">
            <a:solidFill>
              <a:srgbClr val="D9D9D9"/>
            </a:solidFill>
            <a:prstDash val="solid"/>
          </a:ln>
        </p:spPr>
      </p:sp>
      <p:pic>
        <p:nvPicPr>
          <p:cNvPr id="7" name="Image 0" descr="/mnt/data/ppt_assets/units.png"/>
          <p:cNvPicPr>
            <a:picLocks noChangeAspect="1"/>
          </p:cNvPicPr>
          <p:nvPr/>
        </p:nvPicPr>
        <p:blipFill>
          <a:blip r:embed="rId1"/>
          <a:srcRect l="18854" r="18854"/>
          <a:stretch>
            <a:fillRect/>
          </a:stretch>
        </p:blipFill>
        <p:spPr>
          <a:xfrm>
            <a:off x="5570855" y="1594485"/>
            <a:ext cx="6517005" cy="4527550"/>
          </a:xfrm>
          <a:prstGeom prst="rect">
            <a:avLst/>
          </a:prstGeom>
        </p:spPr>
      </p:pic>
      <p:sp>
        <p:nvSpPr>
          <p:cNvPr id="8" name="Text 5"/>
          <p:cNvSpPr/>
          <p:nvPr/>
        </p:nvSpPr>
        <p:spPr>
          <a:xfrm>
            <a:off x="6103620" y="6122035"/>
            <a:ext cx="5183505" cy="384175"/>
          </a:xfrm>
          <a:prstGeom prst="rect">
            <a:avLst/>
          </a:prstGeom>
          <a:noFill/>
        </p:spPr>
        <p:txBody>
          <a:bodyPr wrap="square" lIns="508" tIns="508" rIns="508" bIns="508" rtlCol="0" anchor="ctr">
            <a:normAutofit fontScale="90000"/>
          </a:bodyPr>
          <a:lstStyle/>
          <a:p>
            <a:pPr marL="0" indent="0">
              <a:buNone/>
            </a:pPr>
            <a:r>
              <a:rPr lang="en-US" sz="1700" dirty="0">
                <a:solidFill>
                  <a:srgbClr val="111111"/>
                </a:solidFill>
                <a:latin typeface="Arial" panose="020B0604020202020204" pitchFamily="34" charset="0"/>
                <a:ea typeface="Arial" panose="020B0604020202020204" pitchFamily="34" charset="-122"/>
                <a:cs typeface="Arial" panose="020B0604020202020204" pitchFamily="34" charset="-120"/>
              </a:rPr>
              <a:t>Giao diện hiển thị trạng thái chi trả theo đơn vị và căn cứ rule</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3048000" y="890270"/>
            <a:ext cx="7391400" cy="5077460"/>
          </a:xfrm>
          <a:prstGeom prst="rect">
            <a:avLst/>
          </a:prstGeom>
          <a:noFill/>
        </p:spPr>
        <p:txBody>
          <a:bodyPr wrap="square" rtlCol="0" anchor="t">
            <a:spAutoFit/>
          </a:bodyPr>
          <a:p>
            <a:r>
              <a:rPr lang="en-US" altLang="en-US"/>
              <a:t>                 	   GIAO DIỆN NG</a:t>
            </a:r>
            <a:r>
              <a:rPr lang="" altLang="en-US"/>
              <a:t>Ư</a:t>
            </a:r>
            <a:r>
              <a:rPr lang="en-US" altLang="en-US"/>
              <a:t>ỜI D</a:t>
            </a:r>
            <a:r>
              <a:rPr lang="" altLang="en-US"/>
              <a:t>Ù</a:t>
            </a:r>
            <a:r>
              <a:rPr lang="en-US" altLang="en-US"/>
              <a:t>NG</a:t>
            </a:r>
            <a:endParaRPr lang="en-US" altLang="en-US"/>
          </a:p>
          <a:p>
            <a:r>
              <a:rPr lang="en-US" altLang="en-US"/>
              <a:t>                     		       ↓</a:t>
            </a:r>
            <a:endParaRPr lang="en-US" altLang="en-US"/>
          </a:p>
          <a:p>
            <a:r>
              <a:rPr lang="en-US" altLang="en-US"/>
              <a:t>                     	         FastAPI Backend</a:t>
            </a:r>
            <a:endParaRPr lang="en-US" altLang="en-US"/>
          </a:p>
          <a:p>
            <a:r>
              <a:rPr lang="en-US" altLang="en-US"/>
              <a:t>                      		       ↓</a:t>
            </a:r>
            <a:endParaRPr lang="en-US" altLang="en-US"/>
          </a:p>
          <a:p>
            <a:r>
              <a:rPr lang="en-US" altLang="en-US"/>
              <a:t>              ┌─────────────┴─────────────┐</a:t>
            </a:r>
            <a:endParaRPr lang="en-US" altLang="en-US"/>
          </a:p>
          <a:p>
            <a:r>
              <a:rPr lang="en-US" altLang="en-US"/>
              <a:t>              ↓                          			              ↓</a:t>
            </a:r>
            <a:endParaRPr lang="en-US" altLang="en-US"/>
          </a:p>
          <a:p>
            <a:endParaRPr lang="en-US" altLang="en-US"/>
          </a:p>
          <a:p>
            <a:r>
              <a:rPr lang="en-US" altLang="en-US"/>
              <a:t>     NHẬP DỮ LIỆU                   	 	       TRA CỨU</a:t>
            </a:r>
            <a:endParaRPr lang="en-US" altLang="en-US"/>
          </a:p>
          <a:p>
            <a:endParaRPr lang="en-US" altLang="en-US"/>
          </a:p>
          <a:p>
            <a:r>
              <a:rPr lang="en-US" altLang="en-US"/>
              <a:t>     Dữ liệu </a:t>
            </a:r>
            <a:r>
              <a:rPr lang="" altLang="en-US"/>
              <a:t>đ</a:t>
            </a:r>
            <a:r>
              <a:rPr lang="en-US" altLang="en-US"/>
              <a:t>ầu vào                                              Search Engine</a:t>
            </a:r>
            <a:endParaRPr lang="en-US" altLang="en-US"/>
          </a:p>
          <a:p>
            <a:r>
              <a:rPr lang="en-US" altLang="en-US"/>
              <a:t>            ↓                            			              ↓</a:t>
            </a:r>
            <a:endParaRPr lang="en-US" altLang="en-US"/>
          </a:p>
          <a:p>
            <a:r>
              <a:rPr lang="en-US" altLang="en-US"/>
              <a:t> Information Extraction             		        SQLite</a:t>
            </a:r>
            <a:endParaRPr lang="en-US" altLang="en-US"/>
          </a:p>
          <a:p>
            <a:r>
              <a:rPr lang="en-US" altLang="en-US"/>
              <a:t> / Schema Mapping                       			↓</a:t>
            </a:r>
            <a:endParaRPr lang="en-US" altLang="en-US"/>
          </a:p>
          <a:p>
            <a:r>
              <a:rPr lang="en-US" altLang="en-US"/>
              <a:t>            ↓                        			     Rule Engine</a:t>
            </a:r>
            <a:endParaRPr lang="en-US" altLang="en-US"/>
          </a:p>
          <a:p>
            <a:r>
              <a:rPr lang="en-US" altLang="en-US"/>
              <a:t> Preview → Validation                    			↓</a:t>
            </a:r>
            <a:endParaRPr lang="en-US" altLang="en-US"/>
          </a:p>
          <a:p>
            <a:r>
              <a:rPr lang="en-US" altLang="en-US"/>
              <a:t>       → Commit                                                         Kết quả</a:t>
            </a:r>
            <a:endParaRPr lang="en-US" altLang="en-US"/>
          </a:p>
          <a:p>
            <a:r>
              <a:rPr lang="en-US" altLang="en-US"/>
              <a:t>            ↓</a:t>
            </a:r>
            <a:endParaRPr lang="en-US" altLang="en-US"/>
          </a:p>
          <a:p>
            <a:r>
              <a:rPr lang="en-US" altLang="en-US"/>
              <a:t>         SQLite</a:t>
            </a:r>
            <a:endParaRPr lang="en-US"/>
          </a:p>
        </p:txBody>
      </p:sp>
      <p:sp>
        <p:nvSpPr>
          <p:cNvPr id="5" name="Text 0"/>
          <p:cNvSpPr/>
          <p:nvPr/>
        </p:nvSpPr>
        <p:spPr>
          <a:xfrm>
            <a:off x="502920" y="320040"/>
            <a:ext cx="11201400" cy="384048"/>
          </a:xfrm>
          <a:prstGeom prst="rect">
            <a:avLst/>
          </a:prstGeom>
          <a:noFill/>
        </p:spPr>
        <p:txBody>
          <a:bodyPr wrap="square" lIns="0" tIns="0" rIns="0" bIns="0" rtlCol="0" anchor="ctr"/>
          <a:lstStyle/>
          <a:p>
            <a:pPr marL="0" indent="0">
              <a:buNone/>
            </a:pPr>
            <a:r>
              <a:rPr lang="en-US" sz="2300" b="1" dirty="0">
                <a:solidFill>
                  <a:srgbClr val="111111"/>
                </a:solidFill>
                <a:latin typeface="Arial" panose="020B0604020202020204" pitchFamily="34" charset="0"/>
                <a:ea typeface="Arial" panose="020B0604020202020204" pitchFamily="34" charset="-122"/>
                <a:cs typeface="Arial" panose="020B0604020202020204" pitchFamily="34" charset="-120"/>
              </a:rPr>
              <a:t>2. Kiến trúc tổng thể</a:t>
            </a:r>
            <a:endParaRPr lang="en-US" sz="2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20040"/>
            <a:ext cx="11201400" cy="384048"/>
          </a:xfrm>
          <a:prstGeom prst="rect">
            <a:avLst/>
          </a:prstGeom>
          <a:noFill/>
        </p:spPr>
        <p:txBody>
          <a:bodyPr wrap="square" lIns="0" tIns="0" rIns="0" bIns="0" rtlCol="0" anchor="ctr"/>
          <a:lstStyle/>
          <a:p>
            <a:pPr marL="0" indent="0">
              <a:buNone/>
            </a:pPr>
            <a:r>
              <a:rPr lang="en-US" sz="2300" b="1" dirty="0">
                <a:solidFill>
                  <a:srgbClr val="111111"/>
                </a:solidFill>
                <a:latin typeface="Arial" panose="020B0604020202020204" pitchFamily="34" charset="0"/>
                <a:ea typeface="Arial" panose="020B0604020202020204" pitchFamily="34" charset="-122"/>
                <a:cs typeface="Arial" panose="020B0604020202020204" pitchFamily="34" charset="-120"/>
              </a:rPr>
              <a:t>3. Công nghệ và module chính</a:t>
            </a:r>
            <a:endParaRPr lang="en-US" sz="2300" dirty="0"/>
          </a:p>
        </p:txBody>
      </p:sp>
      <p:sp>
        <p:nvSpPr>
          <p:cNvPr id="3" name="Shape 1"/>
          <p:cNvSpPr/>
          <p:nvPr/>
        </p:nvSpPr>
        <p:spPr>
          <a:xfrm>
            <a:off x="502920" y="804672"/>
            <a:ext cx="11201400" cy="0"/>
          </a:xfrm>
          <a:prstGeom prst="line">
            <a:avLst/>
          </a:prstGeom>
          <a:noFill/>
          <a:ln w="12700">
            <a:solidFill>
              <a:srgbClr val="D9D9D9"/>
            </a:solidFill>
            <a:prstDash val="solid"/>
          </a:ln>
        </p:spPr>
      </p:sp>
      <p:sp>
        <p:nvSpPr>
          <p:cNvPr id="4" name="Shape 2"/>
          <p:cNvSpPr/>
          <p:nvPr/>
        </p:nvSpPr>
        <p:spPr>
          <a:xfrm>
            <a:off x="685800" y="1115568"/>
            <a:ext cx="5577840" cy="685800"/>
          </a:xfrm>
          <a:prstGeom prst="rect">
            <a:avLst/>
          </a:prstGeom>
          <a:solidFill>
            <a:srgbClr val="F4F4F4"/>
          </a:solidFill>
          <a:ln w="10160">
            <a:solidFill>
              <a:srgbClr val="D9D9D9"/>
            </a:solidFill>
            <a:prstDash val="solid"/>
          </a:ln>
        </p:spPr>
      </p:sp>
      <p:sp>
        <p:nvSpPr>
          <p:cNvPr id="5" name="Shape 3"/>
          <p:cNvSpPr/>
          <p:nvPr/>
        </p:nvSpPr>
        <p:spPr>
          <a:xfrm>
            <a:off x="2805379" y="1115568"/>
            <a:ext cx="0" cy="685800"/>
          </a:xfrm>
          <a:prstGeom prst="line">
            <a:avLst/>
          </a:prstGeom>
          <a:noFill/>
          <a:ln w="10160">
            <a:solidFill>
              <a:srgbClr val="D9D9D9"/>
            </a:solidFill>
            <a:prstDash val="solid"/>
          </a:ln>
        </p:spPr>
      </p:sp>
      <p:sp>
        <p:nvSpPr>
          <p:cNvPr id="6" name="Text 4"/>
          <p:cNvSpPr/>
          <p:nvPr/>
        </p:nvSpPr>
        <p:spPr>
          <a:xfrm>
            <a:off x="758952" y="1161288"/>
            <a:ext cx="1973275" cy="594360"/>
          </a:xfrm>
          <a:prstGeom prst="rect">
            <a:avLst/>
          </a:prstGeom>
          <a:noFill/>
        </p:spPr>
        <p:txBody>
          <a:bodyPr wrap="square" lIns="508" tIns="508" rIns="508" bIns="508" rtlCol="0" anchor="ctr">
            <a:normAutofit/>
          </a:bodyPr>
          <a:lstStyle/>
          <a:p>
            <a:pPr marL="0" indent="0">
              <a:buNone/>
            </a:pPr>
            <a:r>
              <a:rPr lang="en-US" sz="1700" b="1" dirty="0">
                <a:solidFill>
                  <a:srgbClr val="111111"/>
                </a:solidFill>
                <a:latin typeface="Arial" panose="020B0604020202020204" pitchFamily="34" charset="0"/>
                <a:ea typeface="Arial" panose="020B0604020202020204" pitchFamily="34" charset="-122"/>
                <a:cs typeface="Arial" panose="020B0604020202020204" pitchFamily="34" charset="-120"/>
              </a:rPr>
              <a:t>Thành phần</a:t>
            </a:r>
            <a:endParaRPr lang="en-US" sz="1700" dirty="0"/>
          </a:p>
        </p:txBody>
      </p:sp>
      <p:sp>
        <p:nvSpPr>
          <p:cNvPr id="7" name="Text 5"/>
          <p:cNvSpPr/>
          <p:nvPr/>
        </p:nvSpPr>
        <p:spPr>
          <a:xfrm>
            <a:off x="2878531" y="1161288"/>
            <a:ext cx="3311957" cy="594360"/>
          </a:xfrm>
          <a:prstGeom prst="rect">
            <a:avLst/>
          </a:prstGeom>
          <a:noFill/>
        </p:spPr>
        <p:txBody>
          <a:bodyPr wrap="square" lIns="508" tIns="508" rIns="508" bIns="508" rtlCol="0" anchor="ctr">
            <a:normAutofit/>
          </a:bodyPr>
          <a:lstStyle/>
          <a:p>
            <a:pPr marL="0" indent="0">
              <a:buNone/>
            </a:pPr>
            <a:r>
              <a:rPr lang="en-US" sz="1700" b="1" dirty="0">
                <a:solidFill>
                  <a:srgbClr val="111111"/>
                </a:solidFill>
                <a:latin typeface="Arial" panose="020B0604020202020204" pitchFamily="34" charset="0"/>
                <a:ea typeface="Arial" panose="020B0604020202020204" pitchFamily="34" charset="-122"/>
                <a:cs typeface="Arial" panose="020B0604020202020204" pitchFamily="34" charset="-120"/>
              </a:rPr>
              <a:t>Công nghệ / Vai trò</a:t>
            </a:r>
            <a:endParaRPr lang="en-US" sz="1700" dirty="0"/>
          </a:p>
        </p:txBody>
      </p:sp>
      <p:sp>
        <p:nvSpPr>
          <p:cNvPr id="8" name="Shape 6"/>
          <p:cNvSpPr/>
          <p:nvPr/>
        </p:nvSpPr>
        <p:spPr>
          <a:xfrm>
            <a:off x="685800" y="1801368"/>
            <a:ext cx="5577840" cy="685800"/>
          </a:xfrm>
          <a:prstGeom prst="rect">
            <a:avLst/>
          </a:prstGeom>
          <a:solidFill>
            <a:srgbClr val="FFFFFF"/>
          </a:solidFill>
          <a:ln w="10160">
            <a:solidFill>
              <a:srgbClr val="D9D9D9"/>
            </a:solidFill>
            <a:prstDash val="solid"/>
          </a:ln>
        </p:spPr>
      </p:sp>
      <p:sp>
        <p:nvSpPr>
          <p:cNvPr id="9" name="Shape 7"/>
          <p:cNvSpPr/>
          <p:nvPr/>
        </p:nvSpPr>
        <p:spPr>
          <a:xfrm>
            <a:off x="2805379" y="1801368"/>
            <a:ext cx="0" cy="685800"/>
          </a:xfrm>
          <a:prstGeom prst="line">
            <a:avLst/>
          </a:prstGeom>
          <a:noFill/>
          <a:ln w="10160">
            <a:solidFill>
              <a:srgbClr val="D9D9D9"/>
            </a:solidFill>
            <a:prstDash val="solid"/>
          </a:ln>
        </p:spPr>
      </p:sp>
      <p:sp>
        <p:nvSpPr>
          <p:cNvPr id="10" name="Text 8"/>
          <p:cNvSpPr/>
          <p:nvPr/>
        </p:nvSpPr>
        <p:spPr>
          <a:xfrm>
            <a:off x="758952" y="1847088"/>
            <a:ext cx="1973275" cy="594360"/>
          </a:xfrm>
          <a:prstGeom prst="rect">
            <a:avLst/>
          </a:prstGeom>
          <a:noFill/>
        </p:spPr>
        <p:txBody>
          <a:bodyPr wrap="square" lIns="508" tIns="508" rIns="508" bIns="508" rtlCol="0" anchor="ctr">
            <a:normAutofit/>
          </a:bodyPr>
          <a:lstStyle/>
          <a:p>
            <a:pPr marL="0" indent="0">
              <a:buNone/>
            </a:pPr>
            <a:r>
              <a:rPr lang="en-US" sz="1700" dirty="0">
                <a:solidFill>
                  <a:srgbClr val="111111"/>
                </a:solidFill>
                <a:latin typeface="Arial" panose="020B0604020202020204" pitchFamily="34" charset="0"/>
                <a:ea typeface="Arial" panose="020B0604020202020204" pitchFamily="34" charset="-122"/>
                <a:cs typeface="Arial" panose="020B0604020202020204" pitchFamily="34" charset="-120"/>
              </a:rPr>
              <a:t>Backend</a:t>
            </a:r>
            <a:endParaRPr lang="en-US" sz="1700" dirty="0"/>
          </a:p>
        </p:txBody>
      </p:sp>
      <p:sp>
        <p:nvSpPr>
          <p:cNvPr id="11" name="Text 9"/>
          <p:cNvSpPr/>
          <p:nvPr/>
        </p:nvSpPr>
        <p:spPr>
          <a:xfrm>
            <a:off x="2878531" y="1847088"/>
            <a:ext cx="3311957" cy="594360"/>
          </a:xfrm>
          <a:prstGeom prst="rect">
            <a:avLst/>
          </a:prstGeom>
          <a:noFill/>
        </p:spPr>
        <p:txBody>
          <a:bodyPr wrap="square" lIns="508" tIns="508" rIns="508" bIns="508" rtlCol="0" anchor="ctr">
            <a:normAutofit/>
          </a:bodyPr>
          <a:lstStyle/>
          <a:p>
            <a:pPr marL="0" indent="0">
              <a:buNone/>
            </a:pPr>
            <a:r>
              <a:rPr lang="en-US" sz="1700" dirty="0">
                <a:solidFill>
                  <a:srgbClr val="111111"/>
                </a:solidFill>
                <a:latin typeface="Arial" panose="020B0604020202020204" pitchFamily="34" charset="0"/>
                <a:ea typeface="Arial" panose="020B0604020202020204" pitchFamily="34" charset="-122"/>
                <a:cs typeface="Arial" panose="020B0604020202020204" pitchFamily="34" charset="-120"/>
              </a:rPr>
              <a:t>Python, FastAPI, Uvicorn – điều phối API</a:t>
            </a:r>
            <a:endParaRPr lang="en-US" sz="1700" dirty="0"/>
          </a:p>
        </p:txBody>
      </p:sp>
      <p:sp>
        <p:nvSpPr>
          <p:cNvPr id="12" name="Shape 10"/>
          <p:cNvSpPr/>
          <p:nvPr/>
        </p:nvSpPr>
        <p:spPr>
          <a:xfrm>
            <a:off x="685800" y="2487168"/>
            <a:ext cx="5577840" cy="685800"/>
          </a:xfrm>
          <a:prstGeom prst="rect">
            <a:avLst/>
          </a:prstGeom>
          <a:solidFill>
            <a:srgbClr val="FFFFFF"/>
          </a:solidFill>
          <a:ln w="10160">
            <a:solidFill>
              <a:srgbClr val="D9D9D9"/>
            </a:solidFill>
            <a:prstDash val="solid"/>
          </a:ln>
        </p:spPr>
      </p:sp>
      <p:sp>
        <p:nvSpPr>
          <p:cNvPr id="13" name="Shape 11"/>
          <p:cNvSpPr/>
          <p:nvPr/>
        </p:nvSpPr>
        <p:spPr>
          <a:xfrm>
            <a:off x="2805379" y="2487168"/>
            <a:ext cx="0" cy="685800"/>
          </a:xfrm>
          <a:prstGeom prst="line">
            <a:avLst/>
          </a:prstGeom>
          <a:noFill/>
          <a:ln w="10160">
            <a:solidFill>
              <a:srgbClr val="D9D9D9"/>
            </a:solidFill>
            <a:prstDash val="solid"/>
          </a:ln>
        </p:spPr>
      </p:sp>
      <p:sp>
        <p:nvSpPr>
          <p:cNvPr id="14" name="Text 12"/>
          <p:cNvSpPr/>
          <p:nvPr/>
        </p:nvSpPr>
        <p:spPr>
          <a:xfrm>
            <a:off x="758952" y="2532888"/>
            <a:ext cx="1973275" cy="594360"/>
          </a:xfrm>
          <a:prstGeom prst="rect">
            <a:avLst/>
          </a:prstGeom>
          <a:noFill/>
        </p:spPr>
        <p:txBody>
          <a:bodyPr wrap="square" lIns="508" tIns="508" rIns="508" bIns="508" rtlCol="0" anchor="ctr">
            <a:normAutofit/>
          </a:bodyPr>
          <a:lstStyle/>
          <a:p>
            <a:pPr marL="0" indent="0">
              <a:buNone/>
            </a:pPr>
            <a:r>
              <a:rPr lang="en-US" sz="1700" dirty="0">
                <a:solidFill>
                  <a:srgbClr val="111111"/>
                </a:solidFill>
                <a:latin typeface="Arial" panose="020B0604020202020204" pitchFamily="34" charset="0"/>
                <a:ea typeface="Arial" panose="020B0604020202020204" pitchFamily="34" charset="-122"/>
                <a:cs typeface="Arial" panose="020B0604020202020204" pitchFamily="34" charset="-120"/>
              </a:rPr>
              <a:t>Database</a:t>
            </a:r>
            <a:endParaRPr lang="en-US" sz="1700" dirty="0"/>
          </a:p>
        </p:txBody>
      </p:sp>
      <p:sp>
        <p:nvSpPr>
          <p:cNvPr id="15" name="Text 13"/>
          <p:cNvSpPr/>
          <p:nvPr/>
        </p:nvSpPr>
        <p:spPr>
          <a:xfrm>
            <a:off x="2878531" y="2532888"/>
            <a:ext cx="3311957" cy="594360"/>
          </a:xfrm>
          <a:prstGeom prst="rect">
            <a:avLst/>
          </a:prstGeom>
          <a:noFill/>
        </p:spPr>
        <p:txBody>
          <a:bodyPr wrap="square" lIns="508" tIns="508" rIns="508" bIns="508" rtlCol="0" anchor="ctr">
            <a:normAutofit/>
          </a:bodyPr>
          <a:lstStyle/>
          <a:p>
            <a:pPr marL="0" indent="0">
              <a:buNone/>
            </a:pPr>
            <a:r>
              <a:rPr lang="en-US" sz="1700" dirty="0">
                <a:solidFill>
                  <a:srgbClr val="111111"/>
                </a:solidFill>
                <a:latin typeface="Arial" panose="020B0604020202020204" pitchFamily="34" charset="0"/>
                <a:ea typeface="Arial" panose="020B0604020202020204" pitchFamily="34" charset="-122"/>
                <a:cs typeface="Arial" panose="020B0604020202020204" pitchFamily="34" charset="-120"/>
              </a:rPr>
              <a:t>SQLite – lưu nhân viên, đơn vị, rule, tài khoản</a:t>
            </a:r>
            <a:endParaRPr lang="en-US" sz="1700" dirty="0"/>
          </a:p>
        </p:txBody>
      </p:sp>
      <p:sp>
        <p:nvSpPr>
          <p:cNvPr id="16" name="Shape 14"/>
          <p:cNvSpPr/>
          <p:nvPr/>
        </p:nvSpPr>
        <p:spPr>
          <a:xfrm>
            <a:off x="685800" y="3172968"/>
            <a:ext cx="5577840" cy="685800"/>
          </a:xfrm>
          <a:prstGeom prst="rect">
            <a:avLst/>
          </a:prstGeom>
          <a:solidFill>
            <a:srgbClr val="FFFFFF"/>
          </a:solidFill>
          <a:ln w="10160">
            <a:solidFill>
              <a:srgbClr val="D9D9D9"/>
            </a:solidFill>
            <a:prstDash val="solid"/>
          </a:ln>
        </p:spPr>
      </p:sp>
      <p:sp>
        <p:nvSpPr>
          <p:cNvPr id="17" name="Shape 15"/>
          <p:cNvSpPr/>
          <p:nvPr/>
        </p:nvSpPr>
        <p:spPr>
          <a:xfrm>
            <a:off x="2805379" y="3172968"/>
            <a:ext cx="0" cy="685800"/>
          </a:xfrm>
          <a:prstGeom prst="line">
            <a:avLst/>
          </a:prstGeom>
          <a:noFill/>
          <a:ln w="10160">
            <a:solidFill>
              <a:srgbClr val="D9D9D9"/>
            </a:solidFill>
            <a:prstDash val="solid"/>
          </a:ln>
        </p:spPr>
      </p:sp>
      <p:sp>
        <p:nvSpPr>
          <p:cNvPr id="18" name="Text 16"/>
          <p:cNvSpPr/>
          <p:nvPr/>
        </p:nvSpPr>
        <p:spPr>
          <a:xfrm>
            <a:off x="758952" y="3218688"/>
            <a:ext cx="1973275" cy="594360"/>
          </a:xfrm>
          <a:prstGeom prst="rect">
            <a:avLst/>
          </a:prstGeom>
          <a:noFill/>
        </p:spPr>
        <p:txBody>
          <a:bodyPr wrap="square" lIns="508" tIns="508" rIns="508" bIns="508" rtlCol="0" anchor="ctr">
            <a:normAutofit/>
          </a:bodyPr>
          <a:lstStyle/>
          <a:p>
            <a:pPr marL="0" indent="0">
              <a:buNone/>
            </a:pPr>
            <a:r>
              <a:rPr lang="en-US" sz="1700" dirty="0">
                <a:solidFill>
                  <a:srgbClr val="111111"/>
                </a:solidFill>
                <a:latin typeface="Arial" panose="020B0604020202020204" pitchFamily="34" charset="0"/>
                <a:ea typeface="Arial" panose="020B0604020202020204" pitchFamily="34" charset="-122"/>
                <a:cs typeface="Arial" panose="020B0604020202020204" pitchFamily="34" charset="-120"/>
              </a:rPr>
              <a:t>Frontend</a:t>
            </a:r>
            <a:endParaRPr lang="en-US" sz="1700" dirty="0"/>
          </a:p>
        </p:txBody>
      </p:sp>
      <p:sp>
        <p:nvSpPr>
          <p:cNvPr id="19" name="Text 17"/>
          <p:cNvSpPr/>
          <p:nvPr/>
        </p:nvSpPr>
        <p:spPr>
          <a:xfrm>
            <a:off x="2878531" y="3218688"/>
            <a:ext cx="3311957" cy="594360"/>
          </a:xfrm>
          <a:prstGeom prst="rect">
            <a:avLst/>
          </a:prstGeom>
          <a:noFill/>
        </p:spPr>
        <p:txBody>
          <a:bodyPr wrap="square" lIns="508" tIns="508" rIns="508" bIns="508" rtlCol="0" anchor="ctr">
            <a:normAutofit/>
          </a:bodyPr>
          <a:lstStyle/>
          <a:p>
            <a:pPr marL="0" indent="0">
              <a:buNone/>
            </a:pPr>
            <a:r>
              <a:rPr lang="en-US" sz="1700" dirty="0">
                <a:solidFill>
                  <a:srgbClr val="111111"/>
                </a:solidFill>
                <a:latin typeface="Arial" panose="020B0604020202020204" pitchFamily="34" charset="0"/>
                <a:ea typeface="Arial" panose="020B0604020202020204" pitchFamily="34" charset="-122"/>
                <a:cs typeface="Arial" panose="020B0604020202020204" pitchFamily="34" charset="-120"/>
              </a:rPr>
              <a:t>HTML, CSS, JavaScript – giao diện sử dụng</a:t>
            </a:r>
            <a:endParaRPr lang="en-US" sz="1700" dirty="0"/>
          </a:p>
        </p:txBody>
      </p:sp>
      <p:sp>
        <p:nvSpPr>
          <p:cNvPr id="20" name="Shape 18"/>
          <p:cNvSpPr/>
          <p:nvPr/>
        </p:nvSpPr>
        <p:spPr>
          <a:xfrm>
            <a:off x="685800" y="3858768"/>
            <a:ext cx="5577840" cy="685800"/>
          </a:xfrm>
          <a:prstGeom prst="rect">
            <a:avLst/>
          </a:prstGeom>
          <a:solidFill>
            <a:srgbClr val="FFFFFF"/>
          </a:solidFill>
          <a:ln w="10160">
            <a:solidFill>
              <a:srgbClr val="D9D9D9"/>
            </a:solidFill>
            <a:prstDash val="solid"/>
          </a:ln>
        </p:spPr>
      </p:sp>
      <p:sp>
        <p:nvSpPr>
          <p:cNvPr id="21" name="Shape 19"/>
          <p:cNvSpPr/>
          <p:nvPr/>
        </p:nvSpPr>
        <p:spPr>
          <a:xfrm>
            <a:off x="2805379" y="3858768"/>
            <a:ext cx="0" cy="685800"/>
          </a:xfrm>
          <a:prstGeom prst="line">
            <a:avLst/>
          </a:prstGeom>
          <a:noFill/>
          <a:ln w="10160">
            <a:solidFill>
              <a:srgbClr val="D9D9D9"/>
            </a:solidFill>
            <a:prstDash val="solid"/>
          </a:ln>
        </p:spPr>
      </p:sp>
      <p:sp>
        <p:nvSpPr>
          <p:cNvPr id="22" name="Text 20"/>
          <p:cNvSpPr/>
          <p:nvPr/>
        </p:nvSpPr>
        <p:spPr>
          <a:xfrm>
            <a:off x="758952" y="3904488"/>
            <a:ext cx="1973275" cy="594360"/>
          </a:xfrm>
          <a:prstGeom prst="rect">
            <a:avLst/>
          </a:prstGeom>
          <a:noFill/>
        </p:spPr>
        <p:txBody>
          <a:bodyPr wrap="square" lIns="508" tIns="508" rIns="508" bIns="508" rtlCol="0" anchor="ctr">
            <a:normAutofit/>
          </a:bodyPr>
          <a:lstStyle/>
          <a:p>
            <a:pPr marL="0" indent="0">
              <a:buNone/>
            </a:pPr>
            <a:r>
              <a:rPr lang="en-US" sz="1700" dirty="0">
                <a:solidFill>
                  <a:srgbClr val="111111"/>
                </a:solidFill>
                <a:latin typeface="Arial" panose="020B0604020202020204" pitchFamily="34" charset="0"/>
                <a:ea typeface="Arial" panose="020B0604020202020204" pitchFamily="34" charset="-122"/>
                <a:cs typeface="Arial" panose="020B0604020202020204" pitchFamily="34" charset="-120"/>
              </a:rPr>
              <a:t>AI</a:t>
            </a:r>
            <a:endParaRPr lang="en-US" sz="1700" dirty="0"/>
          </a:p>
        </p:txBody>
      </p:sp>
      <p:sp>
        <p:nvSpPr>
          <p:cNvPr id="23" name="Text 21"/>
          <p:cNvSpPr/>
          <p:nvPr/>
        </p:nvSpPr>
        <p:spPr>
          <a:xfrm>
            <a:off x="2878531" y="3904488"/>
            <a:ext cx="3311957" cy="594360"/>
          </a:xfrm>
          <a:prstGeom prst="rect">
            <a:avLst/>
          </a:prstGeom>
          <a:noFill/>
        </p:spPr>
        <p:txBody>
          <a:bodyPr wrap="square" lIns="508" tIns="508" rIns="508" bIns="508" rtlCol="0" anchor="ctr">
            <a:normAutofit/>
          </a:bodyPr>
          <a:lstStyle/>
          <a:p>
            <a:pPr marL="0" indent="0">
              <a:buNone/>
            </a:pPr>
            <a:r>
              <a:rPr lang="en-US" sz="1700" dirty="0">
                <a:solidFill>
                  <a:srgbClr val="111111"/>
                </a:solidFill>
                <a:latin typeface="Arial" panose="020B0604020202020204" pitchFamily="34" charset="0"/>
                <a:ea typeface="Arial" panose="020B0604020202020204" pitchFamily="34" charset="-122"/>
                <a:cs typeface="Arial" panose="020B0604020202020204" pitchFamily="34" charset="-120"/>
              </a:rPr>
              <a:t>scikit-learn, joblib – Schema Mapping</a:t>
            </a:r>
            <a:endParaRPr lang="en-US" sz="1700" dirty="0"/>
          </a:p>
        </p:txBody>
      </p:sp>
      <p:sp>
        <p:nvSpPr>
          <p:cNvPr id="24" name="Shape 22"/>
          <p:cNvSpPr/>
          <p:nvPr/>
        </p:nvSpPr>
        <p:spPr>
          <a:xfrm>
            <a:off x="685800" y="4544568"/>
            <a:ext cx="5577840" cy="685800"/>
          </a:xfrm>
          <a:prstGeom prst="rect">
            <a:avLst/>
          </a:prstGeom>
          <a:solidFill>
            <a:srgbClr val="FFFFFF"/>
          </a:solidFill>
          <a:ln w="10160">
            <a:solidFill>
              <a:srgbClr val="D9D9D9"/>
            </a:solidFill>
            <a:prstDash val="solid"/>
          </a:ln>
        </p:spPr>
      </p:sp>
      <p:sp>
        <p:nvSpPr>
          <p:cNvPr id="25" name="Shape 23"/>
          <p:cNvSpPr/>
          <p:nvPr/>
        </p:nvSpPr>
        <p:spPr>
          <a:xfrm>
            <a:off x="2805379" y="4544568"/>
            <a:ext cx="0" cy="685800"/>
          </a:xfrm>
          <a:prstGeom prst="line">
            <a:avLst/>
          </a:prstGeom>
          <a:noFill/>
          <a:ln w="10160">
            <a:solidFill>
              <a:srgbClr val="D9D9D9"/>
            </a:solidFill>
            <a:prstDash val="solid"/>
          </a:ln>
        </p:spPr>
      </p:sp>
      <p:sp>
        <p:nvSpPr>
          <p:cNvPr id="26" name="Text 24"/>
          <p:cNvSpPr/>
          <p:nvPr/>
        </p:nvSpPr>
        <p:spPr>
          <a:xfrm>
            <a:off x="758952" y="4590288"/>
            <a:ext cx="1973275" cy="594360"/>
          </a:xfrm>
          <a:prstGeom prst="rect">
            <a:avLst/>
          </a:prstGeom>
          <a:noFill/>
        </p:spPr>
        <p:txBody>
          <a:bodyPr wrap="square" lIns="508" tIns="508" rIns="508" bIns="508" rtlCol="0" anchor="ctr">
            <a:normAutofit/>
          </a:bodyPr>
          <a:lstStyle/>
          <a:p>
            <a:pPr marL="0" indent="0">
              <a:buNone/>
            </a:pPr>
            <a:r>
              <a:rPr lang="en-US" sz="1700" dirty="0">
                <a:solidFill>
                  <a:srgbClr val="111111"/>
                </a:solidFill>
                <a:latin typeface="Arial" panose="020B0604020202020204" pitchFamily="34" charset="0"/>
                <a:ea typeface="Arial" panose="020B0604020202020204" pitchFamily="34" charset="-122"/>
                <a:cs typeface="Arial" panose="020B0604020202020204" pitchFamily="34" charset="-120"/>
              </a:rPr>
              <a:t>Search</a:t>
            </a:r>
            <a:endParaRPr lang="en-US" sz="1700" dirty="0"/>
          </a:p>
        </p:txBody>
      </p:sp>
      <p:sp>
        <p:nvSpPr>
          <p:cNvPr id="27" name="Text 25"/>
          <p:cNvSpPr/>
          <p:nvPr/>
        </p:nvSpPr>
        <p:spPr>
          <a:xfrm>
            <a:off x="2878531" y="4590288"/>
            <a:ext cx="3311957" cy="594360"/>
          </a:xfrm>
          <a:prstGeom prst="rect">
            <a:avLst/>
          </a:prstGeom>
          <a:noFill/>
        </p:spPr>
        <p:txBody>
          <a:bodyPr wrap="square" lIns="508" tIns="508" rIns="508" bIns="508" rtlCol="0" anchor="ctr">
            <a:normAutofit/>
          </a:bodyPr>
          <a:lstStyle/>
          <a:p>
            <a:pPr marL="0" indent="0">
              <a:buNone/>
            </a:pPr>
            <a:r>
              <a:rPr lang="en-US" sz="1700" dirty="0">
                <a:solidFill>
                  <a:srgbClr val="111111"/>
                </a:solidFill>
                <a:latin typeface="Arial" panose="020B0604020202020204" pitchFamily="34" charset="0"/>
                <a:ea typeface="Arial" panose="020B0604020202020204" pitchFamily="34" charset="-122"/>
                <a:cs typeface="Arial" panose="020B0604020202020204" pitchFamily="34" charset="-120"/>
              </a:rPr>
              <a:t>RapidFuzz – tìm gần đúng theo tên</a:t>
            </a:r>
            <a:endParaRPr lang="en-US" sz="1700" dirty="0"/>
          </a:p>
        </p:txBody>
      </p:sp>
      <p:sp>
        <p:nvSpPr>
          <p:cNvPr id="28" name="Shape 26"/>
          <p:cNvSpPr/>
          <p:nvPr/>
        </p:nvSpPr>
        <p:spPr>
          <a:xfrm>
            <a:off x="6537960" y="1115568"/>
            <a:ext cx="4983480" cy="822960"/>
          </a:xfrm>
          <a:prstGeom prst="rect">
            <a:avLst/>
          </a:prstGeom>
          <a:solidFill>
            <a:srgbClr val="F4F4F4"/>
          </a:solidFill>
          <a:ln w="10160">
            <a:solidFill>
              <a:srgbClr val="D9D9D9"/>
            </a:solidFill>
            <a:prstDash val="solid"/>
          </a:ln>
        </p:spPr>
      </p:sp>
      <p:sp>
        <p:nvSpPr>
          <p:cNvPr id="29" name="Shape 27"/>
          <p:cNvSpPr/>
          <p:nvPr/>
        </p:nvSpPr>
        <p:spPr>
          <a:xfrm>
            <a:off x="8431682" y="1115568"/>
            <a:ext cx="0" cy="822960"/>
          </a:xfrm>
          <a:prstGeom prst="line">
            <a:avLst/>
          </a:prstGeom>
          <a:noFill/>
          <a:ln w="10160">
            <a:solidFill>
              <a:srgbClr val="D9D9D9"/>
            </a:solidFill>
            <a:prstDash val="solid"/>
          </a:ln>
        </p:spPr>
      </p:sp>
      <p:sp>
        <p:nvSpPr>
          <p:cNvPr id="30" name="Text 28"/>
          <p:cNvSpPr/>
          <p:nvPr/>
        </p:nvSpPr>
        <p:spPr>
          <a:xfrm>
            <a:off x="6611112" y="1161288"/>
            <a:ext cx="1747418" cy="731520"/>
          </a:xfrm>
          <a:prstGeom prst="rect">
            <a:avLst/>
          </a:prstGeom>
          <a:noFill/>
        </p:spPr>
        <p:txBody>
          <a:bodyPr wrap="square" lIns="508" tIns="508" rIns="508" bIns="508" rtlCol="0" anchor="ctr">
            <a:normAutofit/>
          </a:bodyPr>
          <a:lstStyle/>
          <a:p>
            <a:pPr marL="0" indent="0">
              <a:buNone/>
            </a:pPr>
            <a:r>
              <a:rPr lang="en-US" sz="1700" b="1" dirty="0">
                <a:solidFill>
                  <a:srgbClr val="111111"/>
                </a:solidFill>
                <a:latin typeface="Arial" panose="020B0604020202020204" pitchFamily="34" charset="0"/>
                <a:ea typeface="Arial" panose="020B0604020202020204" pitchFamily="34" charset="-122"/>
                <a:cs typeface="Arial" panose="020B0604020202020204" pitchFamily="34" charset="-120"/>
              </a:rPr>
              <a:t>Module</a:t>
            </a:r>
            <a:endParaRPr lang="en-US" sz="1700" dirty="0"/>
          </a:p>
        </p:txBody>
      </p:sp>
      <p:sp>
        <p:nvSpPr>
          <p:cNvPr id="31" name="Text 29"/>
          <p:cNvSpPr/>
          <p:nvPr/>
        </p:nvSpPr>
        <p:spPr>
          <a:xfrm>
            <a:off x="8504834" y="1161288"/>
            <a:ext cx="2943454" cy="731520"/>
          </a:xfrm>
          <a:prstGeom prst="rect">
            <a:avLst/>
          </a:prstGeom>
          <a:noFill/>
        </p:spPr>
        <p:txBody>
          <a:bodyPr wrap="square" lIns="508" tIns="508" rIns="508" bIns="508" rtlCol="0" anchor="ctr">
            <a:normAutofit/>
          </a:bodyPr>
          <a:lstStyle/>
          <a:p>
            <a:pPr marL="0" indent="0">
              <a:buNone/>
            </a:pPr>
            <a:r>
              <a:rPr lang="en-US" sz="1700" b="1" dirty="0">
                <a:solidFill>
                  <a:srgbClr val="111111"/>
                </a:solidFill>
                <a:latin typeface="Arial" panose="020B0604020202020204" pitchFamily="34" charset="0"/>
                <a:ea typeface="Arial" panose="020B0604020202020204" pitchFamily="34" charset="-122"/>
                <a:cs typeface="Arial" panose="020B0604020202020204" pitchFamily="34" charset="-120"/>
              </a:rPr>
              <a:t>Vai trò</a:t>
            </a:r>
            <a:endParaRPr lang="en-US" sz="1700" dirty="0"/>
          </a:p>
        </p:txBody>
      </p:sp>
      <p:sp>
        <p:nvSpPr>
          <p:cNvPr id="32" name="Shape 30"/>
          <p:cNvSpPr/>
          <p:nvPr/>
        </p:nvSpPr>
        <p:spPr>
          <a:xfrm>
            <a:off x="6537960" y="1938528"/>
            <a:ext cx="4983480" cy="822960"/>
          </a:xfrm>
          <a:prstGeom prst="rect">
            <a:avLst/>
          </a:prstGeom>
          <a:solidFill>
            <a:srgbClr val="FFFFFF"/>
          </a:solidFill>
          <a:ln w="10160">
            <a:solidFill>
              <a:srgbClr val="D9D9D9"/>
            </a:solidFill>
            <a:prstDash val="solid"/>
          </a:ln>
        </p:spPr>
      </p:sp>
      <p:sp>
        <p:nvSpPr>
          <p:cNvPr id="33" name="Shape 31"/>
          <p:cNvSpPr/>
          <p:nvPr/>
        </p:nvSpPr>
        <p:spPr>
          <a:xfrm>
            <a:off x="8431682" y="1938528"/>
            <a:ext cx="0" cy="822960"/>
          </a:xfrm>
          <a:prstGeom prst="line">
            <a:avLst/>
          </a:prstGeom>
          <a:noFill/>
          <a:ln w="10160">
            <a:solidFill>
              <a:srgbClr val="D9D9D9"/>
            </a:solidFill>
            <a:prstDash val="solid"/>
          </a:ln>
        </p:spPr>
      </p:sp>
      <p:sp>
        <p:nvSpPr>
          <p:cNvPr id="34" name="Text 32"/>
          <p:cNvSpPr/>
          <p:nvPr/>
        </p:nvSpPr>
        <p:spPr>
          <a:xfrm>
            <a:off x="6611112" y="1984248"/>
            <a:ext cx="1747418" cy="731520"/>
          </a:xfrm>
          <a:prstGeom prst="rect">
            <a:avLst/>
          </a:prstGeom>
          <a:noFill/>
        </p:spPr>
        <p:txBody>
          <a:bodyPr wrap="square" lIns="508" tIns="508" rIns="508" bIns="508" rtlCol="0" anchor="ctr">
            <a:normAutofit/>
          </a:bodyPr>
          <a:lstStyle/>
          <a:p>
            <a:pPr marL="0" indent="0">
              <a:buNone/>
            </a:pPr>
            <a:r>
              <a:rPr lang="en-US" sz="1700" dirty="0">
                <a:solidFill>
                  <a:srgbClr val="111111"/>
                </a:solidFill>
                <a:latin typeface="Arial" panose="020B0604020202020204" pitchFamily="34" charset="0"/>
                <a:ea typeface="Arial" panose="020B0604020202020204" pitchFamily="34" charset="-122"/>
                <a:cs typeface="Arial" panose="020B0604020202020204" pitchFamily="34" charset="-120"/>
              </a:rPr>
              <a:t>Universal Input</a:t>
            </a:r>
            <a:endParaRPr lang="en-US" sz="1700" dirty="0"/>
          </a:p>
        </p:txBody>
      </p:sp>
      <p:sp>
        <p:nvSpPr>
          <p:cNvPr id="35" name="Text 33"/>
          <p:cNvSpPr/>
          <p:nvPr/>
        </p:nvSpPr>
        <p:spPr>
          <a:xfrm>
            <a:off x="8504834" y="1984248"/>
            <a:ext cx="2943454" cy="731520"/>
          </a:xfrm>
          <a:prstGeom prst="rect">
            <a:avLst/>
          </a:prstGeom>
          <a:noFill/>
        </p:spPr>
        <p:txBody>
          <a:bodyPr wrap="square" lIns="508" tIns="508" rIns="508" bIns="508" rtlCol="0" anchor="ctr">
            <a:normAutofit/>
          </a:bodyPr>
          <a:lstStyle/>
          <a:p>
            <a:pPr marL="0" indent="0">
              <a:buNone/>
            </a:pPr>
            <a:r>
              <a:rPr lang="en-US" sz="1700" dirty="0">
                <a:solidFill>
                  <a:srgbClr val="111111"/>
                </a:solidFill>
                <a:latin typeface="Arial" panose="020B0604020202020204" pitchFamily="34" charset="0"/>
                <a:ea typeface="Arial" panose="020B0604020202020204" pitchFamily="34" charset="-122"/>
                <a:cs typeface="Arial" panose="020B0604020202020204" pitchFamily="34" charset="-120"/>
              </a:rPr>
              <a:t>Đọc file / chuỗi đầu vào</a:t>
            </a:r>
            <a:endParaRPr lang="en-US" sz="1700" dirty="0"/>
          </a:p>
        </p:txBody>
      </p:sp>
      <p:sp>
        <p:nvSpPr>
          <p:cNvPr id="36" name="Shape 34"/>
          <p:cNvSpPr/>
          <p:nvPr/>
        </p:nvSpPr>
        <p:spPr>
          <a:xfrm>
            <a:off x="6537960" y="2761488"/>
            <a:ext cx="4983480" cy="822960"/>
          </a:xfrm>
          <a:prstGeom prst="rect">
            <a:avLst/>
          </a:prstGeom>
          <a:solidFill>
            <a:srgbClr val="FFFFFF"/>
          </a:solidFill>
          <a:ln w="10160">
            <a:solidFill>
              <a:srgbClr val="D9D9D9"/>
            </a:solidFill>
            <a:prstDash val="solid"/>
          </a:ln>
        </p:spPr>
      </p:sp>
      <p:sp>
        <p:nvSpPr>
          <p:cNvPr id="37" name="Shape 35"/>
          <p:cNvSpPr/>
          <p:nvPr/>
        </p:nvSpPr>
        <p:spPr>
          <a:xfrm>
            <a:off x="8431682" y="2761488"/>
            <a:ext cx="0" cy="822960"/>
          </a:xfrm>
          <a:prstGeom prst="line">
            <a:avLst/>
          </a:prstGeom>
          <a:noFill/>
          <a:ln w="10160">
            <a:solidFill>
              <a:srgbClr val="D9D9D9"/>
            </a:solidFill>
            <a:prstDash val="solid"/>
          </a:ln>
        </p:spPr>
      </p:sp>
      <p:sp>
        <p:nvSpPr>
          <p:cNvPr id="38" name="Text 36"/>
          <p:cNvSpPr/>
          <p:nvPr/>
        </p:nvSpPr>
        <p:spPr>
          <a:xfrm>
            <a:off x="6611112" y="2807208"/>
            <a:ext cx="1747418" cy="731520"/>
          </a:xfrm>
          <a:prstGeom prst="rect">
            <a:avLst/>
          </a:prstGeom>
          <a:noFill/>
        </p:spPr>
        <p:txBody>
          <a:bodyPr wrap="square" lIns="508" tIns="508" rIns="508" bIns="508" rtlCol="0" anchor="ctr">
            <a:normAutofit/>
          </a:bodyPr>
          <a:lstStyle/>
          <a:p>
            <a:pPr marL="0" indent="0">
              <a:buNone/>
            </a:pPr>
            <a:r>
              <a:rPr lang="en-US" sz="1700" dirty="0">
                <a:solidFill>
                  <a:srgbClr val="111111"/>
                </a:solidFill>
                <a:latin typeface="Arial" panose="020B0604020202020204" pitchFamily="34" charset="0"/>
                <a:ea typeface="Arial" panose="020B0604020202020204" pitchFamily="34" charset="-122"/>
                <a:cs typeface="Arial" panose="020B0604020202020204" pitchFamily="34" charset="-120"/>
              </a:rPr>
              <a:t>Information Mapping</a:t>
            </a:r>
            <a:endParaRPr lang="en-US" sz="1700" dirty="0"/>
          </a:p>
        </p:txBody>
      </p:sp>
      <p:sp>
        <p:nvSpPr>
          <p:cNvPr id="39" name="Text 37"/>
          <p:cNvSpPr/>
          <p:nvPr/>
        </p:nvSpPr>
        <p:spPr>
          <a:xfrm>
            <a:off x="8504834" y="2807208"/>
            <a:ext cx="2943454" cy="731520"/>
          </a:xfrm>
          <a:prstGeom prst="rect">
            <a:avLst/>
          </a:prstGeom>
          <a:noFill/>
        </p:spPr>
        <p:txBody>
          <a:bodyPr wrap="square" lIns="508" tIns="508" rIns="508" bIns="508" rtlCol="0" anchor="ctr">
            <a:normAutofit/>
          </a:bodyPr>
          <a:lstStyle/>
          <a:p>
            <a:pPr marL="0" indent="0">
              <a:buNone/>
            </a:pPr>
            <a:r>
              <a:rPr lang="en-US" sz="1700" dirty="0">
                <a:solidFill>
                  <a:srgbClr val="111111"/>
                </a:solidFill>
                <a:latin typeface="Arial" panose="020B0604020202020204" pitchFamily="34" charset="0"/>
                <a:ea typeface="Arial" panose="020B0604020202020204" pitchFamily="34" charset="-122"/>
                <a:cs typeface="Arial" panose="020B0604020202020204" pitchFamily="34" charset="-120"/>
              </a:rPr>
              <a:t>Trích xuất + mapping + confidence</a:t>
            </a:r>
            <a:endParaRPr lang="en-US" sz="1700" dirty="0"/>
          </a:p>
        </p:txBody>
      </p:sp>
      <p:sp>
        <p:nvSpPr>
          <p:cNvPr id="40" name="Shape 38"/>
          <p:cNvSpPr/>
          <p:nvPr/>
        </p:nvSpPr>
        <p:spPr>
          <a:xfrm>
            <a:off x="6537960" y="3584448"/>
            <a:ext cx="4983480" cy="822960"/>
          </a:xfrm>
          <a:prstGeom prst="rect">
            <a:avLst/>
          </a:prstGeom>
          <a:solidFill>
            <a:srgbClr val="FFFFFF"/>
          </a:solidFill>
          <a:ln w="10160">
            <a:solidFill>
              <a:srgbClr val="D9D9D9"/>
            </a:solidFill>
            <a:prstDash val="solid"/>
          </a:ln>
        </p:spPr>
      </p:sp>
      <p:sp>
        <p:nvSpPr>
          <p:cNvPr id="41" name="Shape 39"/>
          <p:cNvSpPr/>
          <p:nvPr/>
        </p:nvSpPr>
        <p:spPr>
          <a:xfrm>
            <a:off x="8431682" y="3584448"/>
            <a:ext cx="0" cy="822960"/>
          </a:xfrm>
          <a:prstGeom prst="line">
            <a:avLst/>
          </a:prstGeom>
          <a:noFill/>
          <a:ln w="10160">
            <a:solidFill>
              <a:srgbClr val="D9D9D9"/>
            </a:solidFill>
            <a:prstDash val="solid"/>
          </a:ln>
        </p:spPr>
      </p:sp>
      <p:sp>
        <p:nvSpPr>
          <p:cNvPr id="42" name="Text 40"/>
          <p:cNvSpPr/>
          <p:nvPr/>
        </p:nvSpPr>
        <p:spPr>
          <a:xfrm>
            <a:off x="6611112" y="3630168"/>
            <a:ext cx="1747418" cy="731520"/>
          </a:xfrm>
          <a:prstGeom prst="rect">
            <a:avLst/>
          </a:prstGeom>
          <a:noFill/>
        </p:spPr>
        <p:txBody>
          <a:bodyPr wrap="square" lIns="508" tIns="508" rIns="508" bIns="508" rtlCol="0" anchor="ctr">
            <a:normAutofit/>
          </a:bodyPr>
          <a:lstStyle/>
          <a:p>
            <a:pPr marL="0" indent="0">
              <a:buNone/>
            </a:pPr>
            <a:r>
              <a:rPr lang="en-US" sz="1700" dirty="0">
                <a:solidFill>
                  <a:srgbClr val="111111"/>
                </a:solidFill>
                <a:latin typeface="Arial" panose="020B0604020202020204" pitchFamily="34" charset="0"/>
                <a:ea typeface="Arial" panose="020B0604020202020204" pitchFamily="34" charset="-122"/>
                <a:cs typeface="Arial" panose="020B0604020202020204" pitchFamily="34" charset="-120"/>
              </a:rPr>
              <a:t>Backend Validation</a:t>
            </a:r>
            <a:endParaRPr lang="en-US" sz="1700" dirty="0"/>
          </a:p>
        </p:txBody>
      </p:sp>
      <p:sp>
        <p:nvSpPr>
          <p:cNvPr id="43" name="Text 41"/>
          <p:cNvSpPr/>
          <p:nvPr/>
        </p:nvSpPr>
        <p:spPr>
          <a:xfrm>
            <a:off x="8504834" y="3630168"/>
            <a:ext cx="2943454" cy="731520"/>
          </a:xfrm>
          <a:prstGeom prst="rect">
            <a:avLst/>
          </a:prstGeom>
          <a:noFill/>
        </p:spPr>
        <p:txBody>
          <a:bodyPr wrap="square" lIns="508" tIns="508" rIns="508" bIns="508" rtlCol="0" anchor="ctr">
            <a:normAutofit/>
          </a:bodyPr>
          <a:lstStyle/>
          <a:p>
            <a:pPr marL="0" indent="0">
              <a:buNone/>
            </a:pPr>
            <a:r>
              <a:rPr lang="en-US" sz="1700" dirty="0">
                <a:solidFill>
                  <a:srgbClr val="111111"/>
                </a:solidFill>
                <a:latin typeface="Arial" panose="020B0604020202020204" pitchFamily="34" charset="0"/>
                <a:ea typeface="Arial" panose="020B0604020202020204" pitchFamily="34" charset="-122"/>
                <a:cs typeface="Arial" panose="020B0604020202020204" pitchFamily="34" charset="-120"/>
              </a:rPr>
              <a:t>API, validation, auth, rule flow</a:t>
            </a:r>
            <a:endParaRPr lang="en-US" sz="1700" dirty="0"/>
          </a:p>
        </p:txBody>
      </p:sp>
      <p:sp>
        <p:nvSpPr>
          <p:cNvPr id="44" name="Shape 42"/>
          <p:cNvSpPr/>
          <p:nvPr/>
        </p:nvSpPr>
        <p:spPr>
          <a:xfrm>
            <a:off x="6537960" y="4407408"/>
            <a:ext cx="4983480" cy="822960"/>
          </a:xfrm>
          <a:prstGeom prst="rect">
            <a:avLst/>
          </a:prstGeom>
          <a:solidFill>
            <a:srgbClr val="FFFFFF"/>
          </a:solidFill>
          <a:ln w="10160">
            <a:solidFill>
              <a:srgbClr val="D9D9D9"/>
            </a:solidFill>
            <a:prstDash val="solid"/>
          </a:ln>
        </p:spPr>
      </p:sp>
      <p:sp>
        <p:nvSpPr>
          <p:cNvPr id="45" name="Shape 43"/>
          <p:cNvSpPr/>
          <p:nvPr/>
        </p:nvSpPr>
        <p:spPr>
          <a:xfrm>
            <a:off x="8431682" y="4407408"/>
            <a:ext cx="0" cy="822960"/>
          </a:xfrm>
          <a:prstGeom prst="line">
            <a:avLst/>
          </a:prstGeom>
          <a:noFill/>
          <a:ln w="10160">
            <a:solidFill>
              <a:srgbClr val="D9D9D9"/>
            </a:solidFill>
            <a:prstDash val="solid"/>
          </a:ln>
        </p:spPr>
      </p:sp>
      <p:sp>
        <p:nvSpPr>
          <p:cNvPr id="46" name="Text 44"/>
          <p:cNvSpPr/>
          <p:nvPr/>
        </p:nvSpPr>
        <p:spPr>
          <a:xfrm>
            <a:off x="6611112" y="4453128"/>
            <a:ext cx="1747418" cy="731520"/>
          </a:xfrm>
          <a:prstGeom prst="rect">
            <a:avLst/>
          </a:prstGeom>
          <a:noFill/>
        </p:spPr>
        <p:txBody>
          <a:bodyPr wrap="square" lIns="508" tIns="508" rIns="508" bIns="508" rtlCol="0" anchor="ctr">
            <a:normAutofit/>
          </a:bodyPr>
          <a:lstStyle/>
          <a:p>
            <a:pPr marL="0" indent="0">
              <a:buNone/>
            </a:pPr>
            <a:r>
              <a:rPr lang="en-US" sz="1700" dirty="0">
                <a:solidFill>
                  <a:srgbClr val="111111"/>
                </a:solidFill>
                <a:latin typeface="Arial" panose="020B0604020202020204" pitchFamily="34" charset="0"/>
                <a:ea typeface="Arial" panose="020B0604020202020204" pitchFamily="34" charset="-122"/>
                <a:cs typeface="Arial" panose="020B0604020202020204" pitchFamily="34" charset="-120"/>
              </a:rPr>
              <a:t>Search + Rule</a:t>
            </a:r>
            <a:endParaRPr lang="en-US" sz="1700" dirty="0"/>
          </a:p>
        </p:txBody>
      </p:sp>
      <p:sp>
        <p:nvSpPr>
          <p:cNvPr id="47" name="Text 45"/>
          <p:cNvSpPr/>
          <p:nvPr/>
        </p:nvSpPr>
        <p:spPr>
          <a:xfrm>
            <a:off x="8504834" y="4453128"/>
            <a:ext cx="2943454" cy="731520"/>
          </a:xfrm>
          <a:prstGeom prst="rect">
            <a:avLst/>
          </a:prstGeom>
          <a:noFill/>
        </p:spPr>
        <p:txBody>
          <a:bodyPr wrap="square" lIns="508" tIns="508" rIns="508" bIns="508" rtlCol="0" anchor="ctr">
            <a:normAutofit/>
          </a:bodyPr>
          <a:lstStyle/>
          <a:p>
            <a:pPr marL="0" indent="0">
              <a:buNone/>
            </a:pPr>
            <a:r>
              <a:rPr lang="en-US" sz="1700" dirty="0">
                <a:solidFill>
                  <a:srgbClr val="111111"/>
                </a:solidFill>
                <a:latin typeface="Arial" panose="020B0604020202020204" pitchFamily="34" charset="0"/>
                <a:ea typeface="Arial" panose="020B0604020202020204" pitchFamily="34" charset="-122"/>
                <a:cs typeface="Arial" panose="020B0604020202020204" pitchFamily="34" charset="-120"/>
              </a:rPr>
              <a:t>Tìm đối tượng và xác định kết quả</a:t>
            </a:r>
            <a:endParaRPr lang="en-US" sz="1700" dirty="0"/>
          </a:p>
        </p:txBody>
      </p:sp>
      <p:sp>
        <p:nvSpPr>
          <p:cNvPr id="48" name="Text 46"/>
          <p:cNvSpPr/>
          <p:nvPr/>
        </p:nvSpPr>
        <p:spPr>
          <a:xfrm>
            <a:off x="685800" y="5577840"/>
            <a:ext cx="10789920" cy="548640"/>
          </a:xfrm>
          <a:prstGeom prst="rect">
            <a:avLst/>
          </a:prstGeom>
          <a:noFill/>
        </p:spPr>
        <p:txBody>
          <a:bodyPr wrap="square" lIns="381" tIns="381" rIns="381" bIns="381" rtlCol="0" anchor="ctr">
            <a:normAutofit/>
          </a:bodyPr>
          <a:lstStyle/>
          <a:p>
            <a:pPr marL="0" indent="0">
              <a:buNone/>
            </a:pPr>
            <a:r>
              <a:rPr lang="en-US" sz="1700" dirty="0">
                <a:solidFill>
                  <a:srgbClr val="111111"/>
                </a:solidFill>
                <a:latin typeface="Arial" panose="020B0604020202020204" pitchFamily="34" charset="0"/>
                <a:ea typeface="Arial" panose="020B0604020202020204" pitchFamily="34" charset="-122"/>
                <a:cs typeface="Arial" panose="020B0604020202020204" pitchFamily="34" charset="-120"/>
              </a:rPr>
              <a:t>Bản cuối không đưa OCR vào phạm vi sử dụng chính; hệ thống tập trung vào dữ liệu có cấu trúc và văn bản có thể đọc trực tiếp.</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20040"/>
            <a:ext cx="11201400" cy="384048"/>
          </a:xfrm>
          <a:prstGeom prst="rect">
            <a:avLst/>
          </a:prstGeom>
          <a:noFill/>
        </p:spPr>
        <p:txBody>
          <a:bodyPr wrap="square" lIns="0" tIns="0" rIns="0" bIns="0" rtlCol="0" anchor="ctr"/>
          <a:lstStyle/>
          <a:p>
            <a:pPr marL="0" indent="0">
              <a:buNone/>
            </a:pPr>
            <a:r>
              <a:rPr lang="en-US" sz="2300" b="1" dirty="0">
                <a:solidFill>
                  <a:srgbClr val="111111"/>
                </a:solidFill>
                <a:latin typeface="Arial" panose="020B0604020202020204" pitchFamily="34" charset="0"/>
                <a:ea typeface="Arial" panose="020B0604020202020204" pitchFamily="34" charset="-122"/>
                <a:cs typeface="Arial" panose="020B0604020202020204" pitchFamily="34" charset="-120"/>
              </a:rPr>
              <a:t>4. Luồng nhập dữ liệu</a:t>
            </a:r>
            <a:endParaRPr lang="en-US" sz="2300" dirty="0"/>
          </a:p>
        </p:txBody>
      </p:sp>
      <p:sp>
        <p:nvSpPr>
          <p:cNvPr id="3" name="Shape 1"/>
          <p:cNvSpPr/>
          <p:nvPr/>
        </p:nvSpPr>
        <p:spPr>
          <a:xfrm>
            <a:off x="502920" y="804672"/>
            <a:ext cx="11201400" cy="0"/>
          </a:xfrm>
          <a:prstGeom prst="line">
            <a:avLst/>
          </a:prstGeom>
          <a:noFill/>
          <a:ln w="12700">
            <a:solidFill>
              <a:srgbClr val="D9D9D9"/>
            </a:solidFill>
            <a:prstDash val="solid"/>
          </a:ln>
        </p:spPr>
      </p:sp>
      <p:sp>
        <p:nvSpPr>
          <p:cNvPr id="4" name="Text 2"/>
          <p:cNvSpPr/>
          <p:nvPr/>
        </p:nvSpPr>
        <p:spPr>
          <a:xfrm>
            <a:off x="594360" y="1097280"/>
            <a:ext cx="4363085" cy="2512695"/>
          </a:xfrm>
          <a:prstGeom prst="rect">
            <a:avLst/>
          </a:prstGeom>
          <a:noFill/>
        </p:spPr>
        <p:txBody>
          <a:bodyPr wrap="square" lIns="381" tIns="381" rIns="381" bIns="381" rtlCol="0" anchor="ctr">
            <a:normAutofit/>
          </a:bodyPr>
          <a:lstStyle/>
          <a:p>
            <a:pPr marL="228600" indent="-228600">
              <a:lnSpc>
                <a:spcPct val="150000"/>
              </a:lnSpc>
              <a:buSzPct val="100000"/>
              <a:buChar char="•"/>
            </a:pPr>
            <a:r>
              <a:rPr lang="en-US" sz="1800" dirty="0">
                <a:solidFill>
                  <a:srgbClr val="111111"/>
                </a:solidFill>
                <a:latin typeface="Arial" panose="020B0604020202020204" pitchFamily="34" charset="0"/>
                <a:ea typeface="Arial" panose="020B0604020202020204" pitchFamily="34" charset="-122"/>
                <a:cs typeface="Arial" panose="020B0604020202020204" pitchFamily="34" charset="-120"/>
              </a:rPr>
              <a:t>Hỗ trợ tải file hoặc nhập/dán văn bản trực tiếp.</a:t>
            </a:r>
            <a:endParaRPr lang="en-US" sz="1800" dirty="0"/>
          </a:p>
          <a:p>
            <a:pPr marL="228600" indent="-228600">
              <a:lnSpc>
                <a:spcPct val="150000"/>
              </a:lnSpc>
              <a:buSzPct val="100000"/>
              <a:buChar char="•"/>
            </a:pPr>
            <a:r>
              <a:rPr lang="en-US" sz="1800" dirty="0">
                <a:solidFill>
                  <a:srgbClr val="111111"/>
                </a:solidFill>
                <a:latin typeface="Arial" panose="020B0604020202020204" pitchFamily="34" charset="0"/>
                <a:ea typeface="Arial" panose="020B0604020202020204" pitchFamily="34" charset="-122"/>
                <a:cs typeface="Arial" panose="020B0604020202020204" pitchFamily="34" charset="-120"/>
              </a:rPr>
              <a:t>Dữ liệu chưa được ghi ngay vào database.</a:t>
            </a:r>
            <a:endParaRPr lang="en-US" sz="1800" dirty="0"/>
          </a:p>
          <a:p>
            <a:pPr marL="228600" indent="-228600">
              <a:lnSpc>
                <a:spcPct val="150000"/>
              </a:lnSpc>
              <a:buSzPct val="100000"/>
              <a:buChar char="•"/>
            </a:pPr>
            <a:r>
              <a:rPr lang="en-US" sz="1800" dirty="0">
                <a:solidFill>
                  <a:srgbClr val="111111"/>
                </a:solidFill>
                <a:latin typeface="Arial" panose="020B0604020202020204" pitchFamily="34" charset="0"/>
                <a:ea typeface="Arial" panose="020B0604020202020204" pitchFamily="34" charset="-122"/>
                <a:cs typeface="Arial" panose="020B0604020202020204" pitchFamily="34" charset="-120"/>
              </a:rPr>
              <a:t>Người dùng xem Preview, sửa Mapping rồi mới kiểm tra và Commit.</a:t>
            </a:r>
            <a:endParaRPr lang="en-US" sz="1800" dirty="0"/>
          </a:p>
        </p:txBody>
      </p:sp>
      <p:sp>
        <p:nvSpPr>
          <p:cNvPr id="5" name="Shape 3"/>
          <p:cNvSpPr/>
          <p:nvPr/>
        </p:nvSpPr>
        <p:spPr>
          <a:xfrm>
            <a:off x="429895" y="3902710"/>
            <a:ext cx="1005840" cy="502920"/>
          </a:xfrm>
          <a:prstGeom prst="rect">
            <a:avLst/>
          </a:prstGeom>
          <a:solidFill>
            <a:srgbClr val="FFFFFF"/>
          </a:solidFill>
          <a:ln w="10160">
            <a:solidFill>
              <a:srgbClr val="111111"/>
            </a:solidFill>
            <a:prstDash val="solid"/>
          </a:ln>
        </p:spPr>
      </p:sp>
      <p:sp>
        <p:nvSpPr>
          <p:cNvPr id="6" name="Text 4"/>
          <p:cNvSpPr/>
          <p:nvPr/>
        </p:nvSpPr>
        <p:spPr>
          <a:xfrm>
            <a:off x="503047" y="3948430"/>
            <a:ext cx="859536" cy="411480"/>
          </a:xfrm>
          <a:prstGeom prst="rect">
            <a:avLst/>
          </a:prstGeom>
          <a:noFill/>
        </p:spPr>
        <p:txBody>
          <a:bodyPr wrap="square" lIns="254" tIns="254" rIns="254" bIns="254" rtlCol="0" anchor="ctr">
            <a:normAutofit/>
          </a:bodyPr>
          <a:lstStyle/>
          <a:p>
            <a:pPr marL="0" indent="0" algn="ctr">
              <a:buNone/>
            </a:pPr>
            <a:r>
              <a:rPr lang="en-US" sz="1700" b="1" dirty="0">
                <a:solidFill>
                  <a:srgbClr val="111111"/>
                </a:solidFill>
                <a:latin typeface="Arial" panose="020B0604020202020204" pitchFamily="34" charset="0"/>
                <a:ea typeface="Arial" panose="020B0604020202020204" pitchFamily="34" charset="-122"/>
                <a:cs typeface="Arial" panose="020B0604020202020204" pitchFamily="34" charset="-120"/>
              </a:rPr>
              <a:t>Upload</a:t>
            </a:r>
            <a:endParaRPr lang="en-US" sz="1700" dirty="0"/>
          </a:p>
        </p:txBody>
      </p:sp>
      <p:sp>
        <p:nvSpPr>
          <p:cNvPr id="7" name="Shape 5"/>
          <p:cNvSpPr/>
          <p:nvPr/>
        </p:nvSpPr>
        <p:spPr>
          <a:xfrm>
            <a:off x="1801495" y="3902710"/>
            <a:ext cx="1005840" cy="502920"/>
          </a:xfrm>
          <a:prstGeom prst="rect">
            <a:avLst/>
          </a:prstGeom>
          <a:solidFill>
            <a:srgbClr val="FFFFFF"/>
          </a:solidFill>
          <a:ln w="10160">
            <a:solidFill>
              <a:srgbClr val="111111"/>
            </a:solidFill>
            <a:prstDash val="solid"/>
          </a:ln>
        </p:spPr>
      </p:sp>
      <p:sp>
        <p:nvSpPr>
          <p:cNvPr id="8" name="Text 6"/>
          <p:cNvSpPr/>
          <p:nvPr/>
        </p:nvSpPr>
        <p:spPr>
          <a:xfrm>
            <a:off x="1874647" y="3948430"/>
            <a:ext cx="859536" cy="411480"/>
          </a:xfrm>
          <a:prstGeom prst="rect">
            <a:avLst/>
          </a:prstGeom>
          <a:noFill/>
        </p:spPr>
        <p:txBody>
          <a:bodyPr wrap="square" lIns="254" tIns="254" rIns="254" bIns="254" rtlCol="0" anchor="ctr">
            <a:normAutofit/>
          </a:bodyPr>
          <a:lstStyle/>
          <a:p>
            <a:pPr marL="0" indent="0" algn="ctr">
              <a:buNone/>
            </a:pPr>
            <a:r>
              <a:rPr lang="en-US" sz="1700" b="1" dirty="0">
                <a:solidFill>
                  <a:srgbClr val="111111"/>
                </a:solidFill>
                <a:latin typeface="Arial" panose="020B0604020202020204" pitchFamily="34" charset="0"/>
                <a:ea typeface="Arial" panose="020B0604020202020204" pitchFamily="34" charset="-122"/>
                <a:cs typeface="Arial" panose="020B0604020202020204" pitchFamily="34" charset="-120"/>
              </a:rPr>
              <a:t>Đọc</a:t>
            </a:r>
            <a:endParaRPr lang="en-US" sz="1700" dirty="0"/>
          </a:p>
        </p:txBody>
      </p:sp>
      <p:sp>
        <p:nvSpPr>
          <p:cNvPr id="9" name="Shape 7"/>
          <p:cNvSpPr/>
          <p:nvPr/>
        </p:nvSpPr>
        <p:spPr>
          <a:xfrm>
            <a:off x="2990215" y="3902710"/>
            <a:ext cx="1005840" cy="502920"/>
          </a:xfrm>
          <a:prstGeom prst="rect">
            <a:avLst/>
          </a:prstGeom>
          <a:solidFill>
            <a:srgbClr val="FFFFFF"/>
          </a:solidFill>
          <a:ln w="10160">
            <a:solidFill>
              <a:srgbClr val="111111"/>
            </a:solidFill>
            <a:prstDash val="solid"/>
          </a:ln>
        </p:spPr>
      </p:sp>
      <p:sp>
        <p:nvSpPr>
          <p:cNvPr id="10" name="Text 8"/>
          <p:cNvSpPr/>
          <p:nvPr/>
        </p:nvSpPr>
        <p:spPr>
          <a:xfrm>
            <a:off x="3063367" y="3948430"/>
            <a:ext cx="859536" cy="411480"/>
          </a:xfrm>
          <a:prstGeom prst="rect">
            <a:avLst/>
          </a:prstGeom>
          <a:noFill/>
        </p:spPr>
        <p:txBody>
          <a:bodyPr wrap="square" lIns="254" tIns="254" rIns="254" bIns="254" rtlCol="0" anchor="ctr">
            <a:normAutofit/>
          </a:bodyPr>
          <a:lstStyle/>
          <a:p>
            <a:pPr marL="0" indent="0" algn="ctr">
              <a:buNone/>
            </a:pPr>
            <a:r>
              <a:rPr lang="en-US" sz="1700" b="1" dirty="0">
                <a:solidFill>
                  <a:srgbClr val="111111"/>
                </a:solidFill>
                <a:latin typeface="Arial" panose="020B0604020202020204" pitchFamily="34" charset="0"/>
                <a:ea typeface="Arial" panose="020B0604020202020204" pitchFamily="34" charset="-122"/>
                <a:cs typeface="Arial" panose="020B0604020202020204" pitchFamily="34" charset="-120"/>
              </a:rPr>
              <a:t>Mapping</a:t>
            </a:r>
            <a:endParaRPr lang="en-US" sz="1700" dirty="0"/>
          </a:p>
        </p:txBody>
      </p:sp>
      <p:sp>
        <p:nvSpPr>
          <p:cNvPr id="11" name="Shape 9"/>
          <p:cNvSpPr/>
          <p:nvPr/>
        </p:nvSpPr>
        <p:spPr>
          <a:xfrm>
            <a:off x="4270375" y="3902710"/>
            <a:ext cx="1005840" cy="502920"/>
          </a:xfrm>
          <a:prstGeom prst="rect">
            <a:avLst/>
          </a:prstGeom>
          <a:solidFill>
            <a:srgbClr val="FFFFFF"/>
          </a:solidFill>
          <a:ln w="10160">
            <a:solidFill>
              <a:srgbClr val="111111"/>
            </a:solidFill>
            <a:prstDash val="solid"/>
          </a:ln>
        </p:spPr>
      </p:sp>
      <p:sp>
        <p:nvSpPr>
          <p:cNvPr id="12" name="Text 10"/>
          <p:cNvSpPr/>
          <p:nvPr/>
        </p:nvSpPr>
        <p:spPr>
          <a:xfrm>
            <a:off x="4343527" y="3948430"/>
            <a:ext cx="859536" cy="411480"/>
          </a:xfrm>
          <a:prstGeom prst="rect">
            <a:avLst/>
          </a:prstGeom>
          <a:noFill/>
        </p:spPr>
        <p:txBody>
          <a:bodyPr wrap="square" lIns="254" tIns="254" rIns="254" bIns="254" rtlCol="0" anchor="ctr">
            <a:normAutofit/>
          </a:bodyPr>
          <a:lstStyle/>
          <a:p>
            <a:pPr marL="0" indent="0" algn="ctr">
              <a:buNone/>
            </a:pPr>
            <a:r>
              <a:rPr lang="en-US" sz="1700" b="1" dirty="0">
                <a:solidFill>
                  <a:srgbClr val="111111"/>
                </a:solidFill>
                <a:latin typeface="Arial" panose="020B0604020202020204" pitchFamily="34" charset="0"/>
                <a:ea typeface="Arial" panose="020B0604020202020204" pitchFamily="34" charset="-122"/>
                <a:cs typeface="Arial" panose="020B0604020202020204" pitchFamily="34" charset="-120"/>
              </a:rPr>
              <a:t>Check</a:t>
            </a:r>
            <a:endParaRPr lang="en-US" sz="1700" dirty="0"/>
          </a:p>
        </p:txBody>
      </p:sp>
      <p:sp>
        <p:nvSpPr>
          <p:cNvPr id="13" name="Shape 11"/>
          <p:cNvSpPr/>
          <p:nvPr/>
        </p:nvSpPr>
        <p:spPr>
          <a:xfrm>
            <a:off x="1435735" y="4158742"/>
            <a:ext cx="338328" cy="0"/>
          </a:xfrm>
          <a:prstGeom prst="line">
            <a:avLst/>
          </a:prstGeom>
          <a:noFill/>
          <a:ln w="13970">
            <a:solidFill>
              <a:srgbClr val="111111"/>
            </a:solidFill>
            <a:prstDash val="solid"/>
            <a:headEnd type="none"/>
            <a:tailEnd type="triangle"/>
          </a:ln>
        </p:spPr>
      </p:sp>
      <p:sp>
        <p:nvSpPr>
          <p:cNvPr id="14" name="Shape 12"/>
          <p:cNvSpPr/>
          <p:nvPr/>
        </p:nvSpPr>
        <p:spPr>
          <a:xfrm>
            <a:off x="2807335" y="4158742"/>
            <a:ext cx="155448" cy="0"/>
          </a:xfrm>
          <a:prstGeom prst="line">
            <a:avLst/>
          </a:prstGeom>
          <a:noFill/>
          <a:ln w="13970">
            <a:solidFill>
              <a:srgbClr val="111111"/>
            </a:solidFill>
            <a:prstDash val="solid"/>
            <a:headEnd type="none"/>
            <a:tailEnd type="triangle"/>
          </a:ln>
        </p:spPr>
      </p:sp>
      <p:sp>
        <p:nvSpPr>
          <p:cNvPr id="15" name="Shape 13"/>
          <p:cNvSpPr/>
          <p:nvPr/>
        </p:nvSpPr>
        <p:spPr>
          <a:xfrm>
            <a:off x="3996055" y="4158742"/>
            <a:ext cx="246888" cy="0"/>
          </a:xfrm>
          <a:prstGeom prst="line">
            <a:avLst/>
          </a:prstGeom>
          <a:noFill/>
          <a:ln w="13970">
            <a:solidFill>
              <a:srgbClr val="111111"/>
            </a:solidFill>
            <a:prstDash val="solid"/>
            <a:headEnd type="none"/>
            <a:tailEnd type="triangle"/>
          </a:ln>
        </p:spPr>
      </p:sp>
      <p:pic>
        <p:nvPicPr>
          <p:cNvPr id="17" name="Image 0" descr="/mnt/data/ppt_assets/input.png"/>
          <p:cNvPicPr>
            <a:picLocks noChangeAspect="1"/>
          </p:cNvPicPr>
          <p:nvPr/>
        </p:nvPicPr>
        <p:blipFill>
          <a:blip r:embed="rId1"/>
          <a:srcRect l="12544" r="12544"/>
          <a:stretch>
            <a:fillRect/>
          </a:stretch>
        </p:blipFill>
        <p:spPr>
          <a:xfrm>
            <a:off x="5550535" y="1830705"/>
            <a:ext cx="6216015" cy="3976370"/>
          </a:xfrm>
          <a:prstGeom prst="rect">
            <a:avLst/>
          </a:prstGeom>
        </p:spPr>
      </p:pic>
      <p:sp>
        <p:nvSpPr>
          <p:cNvPr id="18" name="Text 15"/>
          <p:cNvSpPr/>
          <p:nvPr/>
        </p:nvSpPr>
        <p:spPr>
          <a:xfrm>
            <a:off x="6569075" y="5910580"/>
            <a:ext cx="5074920" cy="384048"/>
          </a:xfrm>
          <a:prstGeom prst="rect">
            <a:avLst/>
          </a:prstGeom>
          <a:noFill/>
        </p:spPr>
        <p:txBody>
          <a:bodyPr wrap="square" lIns="508" tIns="508" rIns="508" bIns="508" rtlCol="0" anchor="ctr">
            <a:normAutofit/>
          </a:bodyPr>
          <a:lstStyle/>
          <a:p>
            <a:pPr marL="0" indent="0">
              <a:buNone/>
            </a:pPr>
            <a:r>
              <a:rPr lang="en-US" sz="1700" dirty="0">
                <a:solidFill>
                  <a:srgbClr val="111111"/>
                </a:solidFill>
                <a:latin typeface="Arial" panose="020B0604020202020204" pitchFamily="34" charset="0"/>
                <a:ea typeface="Arial" panose="020B0604020202020204" pitchFamily="34" charset="-122"/>
                <a:cs typeface="Arial" panose="020B0604020202020204" pitchFamily="34" charset="-120"/>
              </a:rPr>
              <a:t>Màn hình Nhập dữ liệu: chọn file hoặc nhập văn bản</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20040"/>
            <a:ext cx="11201400" cy="384048"/>
          </a:xfrm>
          <a:prstGeom prst="rect">
            <a:avLst/>
          </a:prstGeom>
          <a:noFill/>
        </p:spPr>
        <p:txBody>
          <a:bodyPr wrap="square" lIns="0" tIns="0" rIns="0" bIns="0" rtlCol="0" anchor="ctr"/>
          <a:lstStyle/>
          <a:p>
            <a:pPr marL="0" indent="0">
              <a:buNone/>
            </a:pPr>
            <a:r>
              <a:rPr lang="en-US" sz="2300" b="1" dirty="0">
                <a:solidFill>
                  <a:srgbClr val="111111"/>
                </a:solidFill>
                <a:latin typeface="Arial" panose="020B0604020202020204" pitchFamily="34" charset="0"/>
                <a:ea typeface="Arial" panose="020B0604020202020204" pitchFamily="34" charset="-122"/>
                <a:cs typeface="Arial" panose="020B0604020202020204" pitchFamily="34" charset="-120"/>
              </a:rPr>
              <a:t>5. AI Schema Mapping</a:t>
            </a:r>
            <a:endParaRPr lang="en-US" sz="2300" dirty="0"/>
          </a:p>
        </p:txBody>
      </p:sp>
      <p:sp>
        <p:nvSpPr>
          <p:cNvPr id="3" name="Shape 1"/>
          <p:cNvSpPr/>
          <p:nvPr/>
        </p:nvSpPr>
        <p:spPr>
          <a:xfrm>
            <a:off x="502920" y="804672"/>
            <a:ext cx="11201400" cy="0"/>
          </a:xfrm>
          <a:prstGeom prst="line">
            <a:avLst/>
          </a:prstGeom>
          <a:noFill/>
          <a:ln w="12700">
            <a:solidFill>
              <a:srgbClr val="D9D9D9"/>
            </a:solidFill>
            <a:prstDash val="solid"/>
          </a:ln>
        </p:spPr>
      </p:sp>
      <p:sp>
        <p:nvSpPr>
          <p:cNvPr id="4" name="Shape 2"/>
          <p:cNvSpPr/>
          <p:nvPr/>
        </p:nvSpPr>
        <p:spPr>
          <a:xfrm>
            <a:off x="777240" y="1188720"/>
            <a:ext cx="1600200" cy="685800"/>
          </a:xfrm>
          <a:prstGeom prst="rect">
            <a:avLst/>
          </a:prstGeom>
          <a:solidFill>
            <a:srgbClr val="F4F4F4"/>
          </a:solidFill>
          <a:ln w="10160">
            <a:solidFill>
              <a:srgbClr val="111111"/>
            </a:solidFill>
            <a:prstDash val="solid"/>
          </a:ln>
        </p:spPr>
      </p:sp>
      <p:sp>
        <p:nvSpPr>
          <p:cNvPr id="5" name="Text 3"/>
          <p:cNvSpPr/>
          <p:nvPr/>
        </p:nvSpPr>
        <p:spPr>
          <a:xfrm>
            <a:off x="850392" y="1234440"/>
            <a:ext cx="1453896" cy="594360"/>
          </a:xfrm>
          <a:prstGeom prst="rect">
            <a:avLst/>
          </a:prstGeom>
          <a:noFill/>
        </p:spPr>
        <p:txBody>
          <a:bodyPr wrap="square" lIns="254" tIns="254" rIns="254" bIns="254" rtlCol="0" anchor="ctr">
            <a:normAutofit/>
          </a:bodyPr>
          <a:lstStyle/>
          <a:p>
            <a:pPr marL="0" indent="0" algn="ctr">
              <a:buNone/>
            </a:pPr>
            <a:r>
              <a:rPr lang="en-US" sz="1700" dirty="0">
                <a:solidFill>
                  <a:srgbClr val="111111"/>
                </a:solidFill>
                <a:latin typeface="Arial" panose="020B0604020202020204" pitchFamily="34" charset="0"/>
                <a:ea typeface="Arial" panose="020B0604020202020204" pitchFamily="34" charset="-122"/>
                <a:cs typeface="Arial" panose="020B0604020202020204" pitchFamily="34" charset="-120"/>
              </a:rPr>
              <a:t>Tên cột nguồn</a:t>
            </a:r>
            <a:endParaRPr lang="en-US" sz="1700" dirty="0"/>
          </a:p>
        </p:txBody>
      </p:sp>
      <p:sp>
        <p:nvSpPr>
          <p:cNvPr id="6" name="Shape 4"/>
          <p:cNvSpPr/>
          <p:nvPr/>
        </p:nvSpPr>
        <p:spPr>
          <a:xfrm>
            <a:off x="2926080" y="1188720"/>
            <a:ext cx="1600200" cy="685800"/>
          </a:xfrm>
          <a:prstGeom prst="rect">
            <a:avLst/>
          </a:prstGeom>
          <a:solidFill>
            <a:srgbClr val="F4F4F4"/>
          </a:solidFill>
          <a:ln w="10160">
            <a:solidFill>
              <a:srgbClr val="111111"/>
            </a:solidFill>
            <a:prstDash val="solid"/>
          </a:ln>
        </p:spPr>
      </p:sp>
      <p:sp>
        <p:nvSpPr>
          <p:cNvPr id="7" name="Text 5"/>
          <p:cNvSpPr/>
          <p:nvPr/>
        </p:nvSpPr>
        <p:spPr>
          <a:xfrm>
            <a:off x="2999232" y="1234440"/>
            <a:ext cx="1453896" cy="594360"/>
          </a:xfrm>
          <a:prstGeom prst="rect">
            <a:avLst/>
          </a:prstGeom>
          <a:noFill/>
        </p:spPr>
        <p:txBody>
          <a:bodyPr wrap="square" lIns="254" tIns="254" rIns="254" bIns="254" rtlCol="0" anchor="ctr">
            <a:normAutofit/>
          </a:bodyPr>
          <a:lstStyle/>
          <a:p>
            <a:pPr marL="0" indent="0" algn="ctr">
              <a:buNone/>
            </a:pPr>
            <a:r>
              <a:rPr lang="en-US" sz="1700" dirty="0">
                <a:solidFill>
                  <a:srgbClr val="111111"/>
                </a:solidFill>
                <a:latin typeface="Arial" panose="020B0604020202020204" pitchFamily="34" charset="0"/>
                <a:ea typeface="Arial" panose="020B0604020202020204" pitchFamily="34" charset="-122"/>
                <a:cs typeface="Arial" panose="020B0604020202020204" pitchFamily="34" charset="-120"/>
              </a:rPr>
              <a:t>Preprocessing</a:t>
            </a:r>
            <a:endParaRPr lang="en-US" sz="1700" dirty="0"/>
          </a:p>
        </p:txBody>
      </p:sp>
      <p:sp>
        <p:nvSpPr>
          <p:cNvPr id="8" name="Shape 6"/>
          <p:cNvSpPr/>
          <p:nvPr/>
        </p:nvSpPr>
        <p:spPr>
          <a:xfrm>
            <a:off x="5029200" y="1188720"/>
            <a:ext cx="1600200" cy="685800"/>
          </a:xfrm>
          <a:prstGeom prst="rect">
            <a:avLst/>
          </a:prstGeom>
          <a:solidFill>
            <a:srgbClr val="F4F4F4"/>
          </a:solidFill>
          <a:ln w="10160">
            <a:solidFill>
              <a:srgbClr val="111111"/>
            </a:solidFill>
            <a:prstDash val="solid"/>
          </a:ln>
        </p:spPr>
      </p:sp>
      <p:sp>
        <p:nvSpPr>
          <p:cNvPr id="9" name="Text 7"/>
          <p:cNvSpPr/>
          <p:nvPr/>
        </p:nvSpPr>
        <p:spPr>
          <a:xfrm>
            <a:off x="5102352" y="1234440"/>
            <a:ext cx="1453896" cy="594360"/>
          </a:xfrm>
          <a:prstGeom prst="rect">
            <a:avLst/>
          </a:prstGeom>
          <a:noFill/>
        </p:spPr>
        <p:txBody>
          <a:bodyPr wrap="square" lIns="254" tIns="254" rIns="254" bIns="254" rtlCol="0" anchor="ctr">
            <a:normAutofit/>
          </a:bodyPr>
          <a:lstStyle/>
          <a:p>
            <a:pPr marL="0" indent="0" algn="ctr">
              <a:buNone/>
            </a:pPr>
            <a:r>
              <a:rPr lang="en-US" sz="1700" dirty="0">
                <a:solidFill>
                  <a:srgbClr val="111111"/>
                </a:solidFill>
                <a:latin typeface="Arial" panose="020B0604020202020204" pitchFamily="34" charset="0"/>
                <a:ea typeface="Arial" panose="020B0604020202020204" pitchFamily="34" charset="-122"/>
                <a:cs typeface="Arial" panose="020B0604020202020204" pitchFamily="34" charset="-120"/>
              </a:rPr>
              <a:t>Alias Exact Match</a:t>
            </a:r>
            <a:endParaRPr lang="en-US" sz="1700" dirty="0"/>
          </a:p>
        </p:txBody>
      </p:sp>
      <p:sp>
        <p:nvSpPr>
          <p:cNvPr id="10" name="Shape 8"/>
          <p:cNvSpPr/>
          <p:nvPr/>
        </p:nvSpPr>
        <p:spPr>
          <a:xfrm>
            <a:off x="7223760" y="1188720"/>
            <a:ext cx="2331720" cy="685800"/>
          </a:xfrm>
          <a:prstGeom prst="rect">
            <a:avLst/>
          </a:prstGeom>
          <a:solidFill>
            <a:srgbClr val="F4F4F4"/>
          </a:solidFill>
          <a:ln w="10160">
            <a:solidFill>
              <a:srgbClr val="111111"/>
            </a:solidFill>
            <a:prstDash val="solid"/>
          </a:ln>
        </p:spPr>
      </p:sp>
      <p:sp>
        <p:nvSpPr>
          <p:cNvPr id="11" name="Text 9"/>
          <p:cNvSpPr/>
          <p:nvPr/>
        </p:nvSpPr>
        <p:spPr>
          <a:xfrm>
            <a:off x="7296912" y="1234440"/>
            <a:ext cx="2185416" cy="594360"/>
          </a:xfrm>
          <a:prstGeom prst="rect">
            <a:avLst/>
          </a:prstGeom>
          <a:noFill/>
        </p:spPr>
        <p:txBody>
          <a:bodyPr wrap="square" lIns="254" tIns="254" rIns="254" bIns="254" rtlCol="0" anchor="ctr">
            <a:normAutofit/>
          </a:bodyPr>
          <a:lstStyle/>
          <a:p>
            <a:pPr marL="0" indent="0" algn="ctr">
              <a:buNone/>
            </a:pPr>
            <a:r>
              <a:rPr lang="en-US" sz="1700" dirty="0">
                <a:solidFill>
                  <a:srgbClr val="111111"/>
                </a:solidFill>
                <a:latin typeface="Arial" panose="020B0604020202020204" pitchFamily="34" charset="0"/>
                <a:ea typeface="Arial" panose="020B0604020202020204" pitchFamily="34" charset="-122"/>
                <a:cs typeface="Arial" panose="020B0604020202020204" pitchFamily="34" charset="-120"/>
              </a:rPr>
              <a:t>TF-IDF char n-gram</a:t>
            </a:r>
            <a:endParaRPr lang="en-US" sz="1700" dirty="0"/>
          </a:p>
          <a:p>
            <a:pPr marL="0" indent="0" algn="ctr">
              <a:buNone/>
            </a:pPr>
            <a:r>
              <a:rPr lang="en-US" sz="1700" dirty="0">
                <a:solidFill>
                  <a:srgbClr val="111111"/>
                </a:solidFill>
                <a:latin typeface="Arial" panose="020B0604020202020204" pitchFamily="34" charset="0"/>
                <a:ea typeface="Arial" panose="020B0604020202020204" pitchFamily="34" charset="-122"/>
                <a:cs typeface="Arial" panose="020B0604020202020204" pitchFamily="34" charset="-120"/>
              </a:rPr>
              <a:t>+ Logistic Regression</a:t>
            </a:r>
            <a:endParaRPr lang="en-US" sz="1700" dirty="0"/>
          </a:p>
        </p:txBody>
      </p:sp>
      <p:sp>
        <p:nvSpPr>
          <p:cNvPr id="12" name="Shape 10"/>
          <p:cNvSpPr/>
          <p:nvPr/>
        </p:nvSpPr>
        <p:spPr>
          <a:xfrm>
            <a:off x="10195560" y="1188720"/>
            <a:ext cx="1600200" cy="685800"/>
          </a:xfrm>
          <a:prstGeom prst="rect">
            <a:avLst/>
          </a:prstGeom>
          <a:solidFill>
            <a:srgbClr val="F4F4F4"/>
          </a:solidFill>
          <a:ln w="10160">
            <a:solidFill>
              <a:srgbClr val="111111"/>
            </a:solidFill>
            <a:prstDash val="solid"/>
          </a:ln>
        </p:spPr>
      </p:sp>
      <p:sp>
        <p:nvSpPr>
          <p:cNvPr id="13" name="Text 11"/>
          <p:cNvSpPr/>
          <p:nvPr/>
        </p:nvSpPr>
        <p:spPr>
          <a:xfrm>
            <a:off x="10268712" y="1234440"/>
            <a:ext cx="1453896" cy="594360"/>
          </a:xfrm>
          <a:prstGeom prst="rect">
            <a:avLst/>
          </a:prstGeom>
          <a:noFill/>
        </p:spPr>
        <p:txBody>
          <a:bodyPr wrap="square" lIns="254" tIns="254" rIns="254" bIns="254" rtlCol="0" anchor="ctr">
            <a:normAutofit/>
          </a:bodyPr>
          <a:lstStyle/>
          <a:p>
            <a:pPr marL="0" indent="0" algn="ctr">
              <a:buNone/>
            </a:pPr>
            <a:r>
              <a:rPr lang="en-US" sz="1700" b="1" dirty="0">
                <a:solidFill>
                  <a:srgbClr val="111111"/>
                </a:solidFill>
                <a:latin typeface="Arial" panose="020B0604020202020204" pitchFamily="34" charset="0"/>
                <a:ea typeface="Arial" panose="020B0604020202020204" pitchFamily="34" charset="-122"/>
                <a:cs typeface="Arial" panose="020B0604020202020204" pitchFamily="34" charset="-120"/>
              </a:rPr>
              <a:t>label</a:t>
            </a:r>
            <a:endParaRPr lang="en-US" sz="1700" dirty="0"/>
          </a:p>
          <a:p>
            <a:pPr marL="0" indent="0" algn="ctr">
              <a:buNone/>
            </a:pPr>
            <a:r>
              <a:rPr lang="en-US" sz="1700" b="1" dirty="0">
                <a:solidFill>
                  <a:srgbClr val="111111"/>
                </a:solidFill>
                <a:latin typeface="Arial" panose="020B0604020202020204" pitchFamily="34" charset="0"/>
                <a:ea typeface="Arial" panose="020B0604020202020204" pitchFamily="34" charset="-122"/>
                <a:cs typeface="Arial" panose="020B0604020202020204" pitchFamily="34" charset="-120"/>
              </a:rPr>
              <a:t>+ confidence</a:t>
            </a:r>
            <a:endParaRPr lang="en-US" sz="1700" dirty="0"/>
          </a:p>
        </p:txBody>
      </p:sp>
      <p:sp>
        <p:nvSpPr>
          <p:cNvPr id="14" name="Shape 12"/>
          <p:cNvSpPr/>
          <p:nvPr/>
        </p:nvSpPr>
        <p:spPr>
          <a:xfrm>
            <a:off x="2377440" y="1531620"/>
            <a:ext cx="512064" cy="0"/>
          </a:xfrm>
          <a:prstGeom prst="line">
            <a:avLst/>
          </a:prstGeom>
          <a:noFill/>
          <a:ln w="13970">
            <a:solidFill>
              <a:srgbClr val="111111"/>
            </a:solidFill>
            <a:prstDash val="solid"/>
            <a:headEnd type="none"/>
            <a:tailEnd type="triangle"/>
          </a:ln>
        </p:spPr>
      </p:sp>
      <p:sp>
        <p:nvSpPr>
          <p:cNvPr id="15" name="Shape 13"/>
          <p:cNvSpPr/>
          <p:nvPr/>
        </p:nvSpPr>
        <p:spPr>
          <a:xfrm>
            <a:off x="4526280" y="1531620"/>
            <a:ext cx="466344" cy="0"/>
          </a:xfrm>
          <a:prstGeom prst="line">
            <a:avLst/>
          </a:prstGeom>
          <a:noFill/>
          <a:ln w="13970">
            <a:solidFill>
              <a:srgbClr val="111111"/>
            </a:solidFill>
            <a:prstDash val="solid"/>
            <a:headEnd type="none"/>
            <a:tailEnd type="triangle"/>
          </a:ln>
        </p:spPr>
      </p:sp>
      <p:sp>
        <p:nvSpPr>
          <p:cNvPr id="16" name="Shape 14"/>
          <p:cNvSpPr/>
          <p:nvPr/>
        </p:nvSpPr>
        <p:spPr>
          <a:xfrm>
            <a:off x="6629400" y="1531620"/>
            <a:ext cx="557784" cy="0"/>
          </a:xfrm>
          <a:prstGeom prst="line">
            <a:avLst/>
          </a:prstGeom>
          <a:noFill/>
          <a:ln w="13970">
            <a:solidFill>
              <a:srgbClr val="111111"/>
            </a:solidFill>
            <a:prstDash val="solid"/>
            <a:headEnd type="none"/>
            <a:tailEnd type="triangle"/>
          </a:ln>
        </p:spPr>
      </p:sp>
      <p:sp>
        <p:nvSpPr>
          <p:cNvPr id="17" name="Shape 15"/>
          <p:cNvSpPr/>
          <p:nvPr/>
        </p:nvSpPr>
        <p:spPr>
          <a:xfrm>
            <a:off x="9555480" y="1531620"/>
            <a:ext cx="603504" cy="0"/>
          </a:xfrm>
          <a:prstGeom prst="line">
            <a:avLst/>
          </a:prstGeom>
          <a:noFill/>
          <a:ln w="13970">
            <a:solidFill>
              <a:srgbClr val="111111"/>
            </a:solidFill>
            <a:prstDash val="solid"/>
            <a:headEnd type="none"/>
            <a:tailEnd type="triangle"/>
          </a:ln>
        </p:spPr>
      </p:sp>
      <p:sp>
        <p:nvSpPr>
          <p:cNvPr id="18" name="Text 16"/>
          <p:cNvSpPr/>
          <p:nvPr/>
        </p:nvSpPr>
        <p:spPr>
          <a:xfrm>
            <a:off x="777240" y="2423160"/>
            <a:ext cx="5303520" cy="1645920"/>
          </a:xfrm>
          <a:prstGeom prst="rect">
            <a:avLst/>
          </a:prstGeom>
          <a:noFill/>
        </p:spPr>
        <p:txBody>
          <a:bodyPr wrap="square" lIns="381" tIns="381" rIns="381" bIns="381" rtlCol="0" anchor="ctr">
            <a:normAutofit/>
          </a:bodyPr>
          <a:lstStyle/>
          <a:p>
            <a:pPr marL="228600" indent="-228600">
              <a:buSzPct val="100000"/>
              <a:buChar char="•"/>
            </a:pPr>
            <a:r>
              <a:rPr lang="en-US" sz="1800" dirty="0">
                <a:solidFill>
                  <a:srgbClr val="111111"/>
                </a:solidFill>
                <a:latin typeface="Arial" panose="020B0604020202020204" pitchFamily="34" charset="0"/>
                <a:ea typeface="Arial" panose="020B0604020202020204" pitchFamily="34" charset="-122"/>
                <a:cs typeface="Arial" panose="020B0604020202020204" pitchFamily="34" charset="-120"/>
              </a:rPr>
              <a:t>Alias dùng cho các tên trường đã biết trước.</a:t>
            </a:r>
            <a:endParaRPr lang="en-US" sz="1800" dirty="0"/>
          </a:p>
          <a:p>
            <a:pPr marL="228600" indent="-228600">
              <a:buSzPct val="100000"/>
              <a:buChar char="•"/>
            </a:pPr>
            <a:r>
              <a:rPr lang="en-US" sz="1800" dirty="0">
                <a:solidFill>
                  <a:srgbClr val="111111"/>
                </a:solidFill>
                <a:latin typeface="Arial" panose="020B0604020202020204" pitchFamily="34" charset="0"/>
                <a:ea typeface="Arial" panose="020B0604020202020204" pitchFamily="34" charset="-122"/>
                <a:cs typeface="Arial" panose="020B0604020202020204" pitchFamily="34" charset="-120"/>
              </a:rPr>
              <a:t>Model AI chỉ chạy khi alias không khớp.</a:t>
            </a:r>
            <a:endParaRPr lang="en-US" sz="1800" dirty="0"/>
          </a:p>
          <a:p>
            <a:pPr marL="228600" indent="-228600">
              <a:buSzPct val="100000"/>
              <a:buChar char="•"/>
            </a:pPr>
            <a:r>
              <a:rPr lang="en-US" sz="1800" dirty="0">
                <a:solidFill>
                  <a:srgbClr val="111111"/>
                </a:solidFill>
                <a:latin typeface="Arial" panose="020B0604020202020204" pitchFamily="34" charset="0"/>
                <a:ea typeface="Arial" panose="020B0604020202020204" pitchFamily="34" charset="-122"/>
                <a:cs typeface="Arial" panose="020B0604020202020204" pitchFamily="34" charset="-120"/>
              </a:rPr>
              <a:t>Confidence thấp thì UI yêu cầu người dùng kiểm tra mapping.</a:t>
            </a:r>
            <a:endParaRPr lang="en-US" sz="1800" dirty="0"/>
          </a:p>
        </p:txBody>
      </p:sp>
      <p:sp>
        <p:nvSpPr>
          <p:cNvPr id="19" name="Shape 17"/>
          <p:cNvSpPr/>
          <p:nvPr/>
        </p:nvSpPr>
        <p:spPr>
          <a:xfrm>
            <a:off x="6400800" y="2331720"/>
            <a:ext cx="4937760" cy="434340"/>
          </a:xfrm>
          <a:prstGeom prst="rect">
            <a:avLst/>
          </a:prstGeom>
          <a:solidFill>
            <a:srgbClr val="F4F4F4"/>
          </a:solidFill>
          <a:ln w="10160">
            <a:solidFill>
              <a:srgbClr val="D9D9D9"/>
            </a:solidFill>
            <a:prstDash val="solid"/>
          </a:ln>
        </p:spPr>
      </p:sp>
      <p:sp>
        <p:nvSpPr>
          <p:cNvPr id="20" name="Shape 18"/>
          <p:cNvSpPr/>
          <p:nvPr/>
        </p:nvSpPr>
        <p:spPr>
          <a:xfrm>
            <a:off x="8277149" y="2331720"/>
            <a:ext cx="0" cy="434340"/>
          </a:xfrm>
          <a:prstGeom prst="line">
            <a:avLst/>
          </a:prstGeom>
          <a:noFill/>
          <a:ln w="10160">
            <a:solidFill>
              <a:srgbClr val="D9D9D9"/>
            </a:solidFill>
            <a:prstDash val="solid"/>
          </a:ln>
        </p:spPr>
      </p:sp>
      <p:sp>
        <p:nvSpPr>
          <p:cNvPr id="21" name="Text 19"/>
          <p:cNvSpPr/>
          <p:nvPr/>
        </p:nvSpPr>
        <p:spPr>
          <a:xfrm>
            <a:off x="6473952" y="2377440"/>
            <a:ext cx="1730045" cy="342900"/>
          </a:xfrm>
          <a:prstGeom prst="rect">
            <a:avLst/>
          </a:prstGeom>
          <a:noFill/>
        </p:spPr>
        <p:txBody>
          <a:bodyPr wrap="square" lIns="508" tIns="508" rIns="508" bIns="508" rtlCol="0" anchor="ctr">
            <a:normAutofit/>
          </a:bodyPr>
          <a:lstStyle/>
          <a:p>
            <a:pPr marL="0" indent="0">
              <a:buNone/>
            </a:pPr>
            <a:r>
              <a:rPr lang="en-US" sz="1700" b="1" dirty="0">
                <a:solidFill>
                  <a:srgbClr val="111111"/>
                </a:solidFill>
                <a:latin typeface="Arial" panose="020B0604020202020204" pitchFamily="34" charset="0"/>
                <a:ea typeface="Arial" panose="020B0604020202020204" pitchFamily="34" charset="-122"/>
                <a:cs typeface="Arial" panose="020B0604020202020204" pitchFamily="34" charset="-120"/>
              </a:rPr>
              <a:t>Metric</a:t>
            </a:r>
            <a:endParaRPr lang="en-US" sz="1700" dirty="0"/>
          </a:p>
        </p:txBody>
      </p:sp>
      <p:sp>
        <p:nvSpPr>
          <p:cNvPr id="22" name="Text 20"/>
          <p:cNvSpPr/>
          <p:nvPr/>
        </p:nvSpPr>
        <p:spPr>
          <a:xfrm>
            <a:off x="8350301" y="2377440"/>
            <a:ext cx="2915107" cy="342900"/>
          </a:xfrm>
          <a:prstGeom prst="rect">
            <a:avLst/>
          </a:prstGeom>
          <a:noFill/>
        </p:spPr>
        <p:txBody>
          <a:bodyPr wrap="square" lIns="508" tIns="508" rIns="508" bIns="508" rtlCol="0" anchor="ctr">
            <a:normAutofit/>
          </a:bodyPr>
          <a:lstStyle/>
          <a:p>
            <a:pPr marL="0" indent="0">
              <a:buNone/>
            </a:pPr>
            <a:r>
              <a:rPr lang="en-US" sz="1700" b="1" dirty="0">
                <a:solidFill>
                  <a:srgbClr val="111111"/>
                </a:solidFill>
                <a:latin typeface="Arial" panose="020B0604020202020204" pitchFamily="34" charset="0"/>
                <a:ea typeface="Arial" panose="020B0604020202020204" pitchFamily="34" charset="-122"/>
                <a:cs typeface="Arial" panose="020B0604020202020204" pitchFamily="34" charset="-120"/>
              </a:rPr>
              <a:t>Giá trị</a:t>
            </a:r>
            <a:endParaRPr lang="en-US" sz="1700" dirty="0"/>
          </a:p>
        </p:txBody>
      </p:sp>
      <p:sp>
        <p:nvSpPr>
          <p:cNvPr id="23" name="Shape 21"/>
          <p:cNvSpPr/>
          <p:nvPr/>
        </p:nvSpPr>
        <p:spPr>
          <a:xfrm>
            <a:off x="6400800" y="2766060"/>
            <a:ext cx="4937760" cy="434340"/>
          </a:xfrm>
          <a:prstGeom prst="rect">
            <a:avLst/>
          </a:prstGeom>
          <a:solidFill>
            <a:srgbClr val="FFFFFF"/>
          </a:solidFill>
          <a:ln w="10160">
            <a:solidFill>
              <a:srgbClr val="D9D9D9"/>
            </a:solidFill>
            <a:prstDash val="solid"/>
          </a:ln>
        </p:spPr>
      </p:sp>
      <p:sp>
        <p:nvSpPr>
          <p:cNvPr id="24" name="Shape 22"/>
          <p:cNvSpPr/>
          <p:nvPr/>
        </p:nvSpPr>
        <p:spPr>
          <a:xfrm>
            <a:off x="8277149" y="2766060"/>
            <a:ext cx="0" cy="434340"/>
          </a:xfrm>
          <a:prstGeom prst="line">
            <a:avLst/>
          </a:prstGeom>
          <a:noFill/>
          <a:ln w="10160">
            <a:solidFill>
              <a:srgbClr val="D9D9D9"/>
            </a:solidFill>
            <a:prstDash val="solid"/>
          </a:ln>
        </p:spPr>
      </p:sp>
      <p:sp>
        <p:nvSpPr>
          <p:cNvPr id="25" name="Text 23"/>
          <p:cNvSpPr/>
          <p:nvPr/>
        </p:nvSpPr>
        <p:spPr>
          <a:xfrm>
            <a:off x="6473952" y="2811780"/>
            <a:ext cx="1730045" cy="342900"/>
          </a:xfrm>
          <a:prstGeom prst="rect">
            <a:avLst/>
          </a:prstGeom>
          <a:noFill/>
        </p:spPr>
        <p:txBody>
          <a:bodyPr wrap="square" lIns="508" tIns="508" rIns="508" bIns="508" rtlCol="0" anchor="ctr">
            <a:normAutofit/>
          </a:bodyPr>
          <a:lstStyle/>
          <a:p>
            <a:pPr marL="0" indent="0">
              <a:buNone/>
            </a:pPr>
            <a:r>
              <a:rPr lang="en-US" sz="1700" dirty="0">
                <a:solidFill>
                  <a:srgbClr val="111111"/>
                </a:solidFill>
                <a:latin typeface="Arial" panose="020B0604020202020204" pitchFamily="34" charset="0"/>
                <a:ea typeface="Arial" panose="020B0604020202020204" pitchFamily="34" charset="-122"/>
                <a:cs typeface="Arial" panose="020B0604020202020204" pitchFamily="34" charset="-120"/>
              </a:rPr>
              <a:t>Số mẫu</a:t>
            </a:r>
            <a:endParaRPr lang="en-US" sz="1700" dirty="0"/>
          </a:p>
        </p:txBody>
      </p:sp>
      <p:sp>
        <p:nvSpPr>
          <p:cNvPr id="26" name="Text 24"/>
          <p:cNvSpPr/>
          <p:nvPr/>
        </p:nvSpPr>
        <p:spPr>
          <a:xfrm>
            <a:off x="8350301" y="2811780"/>
            <a:ext cx="2915107" cy="342900"/>
          </a:xfrm>
          <a:prstGeom prst="rect">
            <a:avLst/>
          </a:prstGeom>
          <a:noFill/>
        </p:spPr>
        <p:txBody>
          <a:bodyPr wrap="square" lIns="508" tIns="508" rIns="508" bIns="508" rtlCol="0" anchor="ctr">
            <a:normAutofit/>
          </a:bodyPr>
          <a:lstStyle/>
          <a:p>
            <a:pPr marL="0" indent="0">
              <a:buNone/>
            </a:pPr>
            <a:r>
              <a:rPr lang="en-US" sz="1700" dirty="0">
                <a:solidFill>
                  <a:srgbClr val="111111"/>
                </a:solidFill>
                <a:latin typeface="Arial" panose="020B0604020202020204" pitchFamily="34" charset="0"/>
                <a:ea typeface="Arial" panose="020B0604020202020204" pitchFamily="34" charset="-122"/>
                <a:cs typeface="Arial" panose="020B0604020202020204" pitchFamily="34" charset="-120"/>
              </a:rPr>
              <a:t>208</a:t>
            </a:r>
            <a:endParaRPr lang="en-US" sz="1700" dirty="0"/>
          </a:p>
        </p:txBody>
      </p:sp>
      <p:sp>
        <p:nvSpPr>
          <p:cNvPr id="27" name="Shape 25"/>
          <p:cNvSpPr/>
          <p:nvPr/>
        </p:nvSpPr>
        <p:spPr>
          <a:xfrm>
            <a:off x="6400800" y="3200400"/>
            <a:ext cx="4937760" cy="434340"/>
          </a:xfrm>
          <a:prstGeom prst="rect">
            <a:avLst/>
          </a:prstGeom>
          <a:solidFill>
            <a:srgbClr val="FFFFFF"/>
          </a:solidFill>
          <a:ln w="10160">
            <a:solidFill>
              <a:srgbClr val="D9D9D9"/>
            </a:solidFill>
            <a:prstDash val="solid"/>
          </a:ln>
        </p:spPr>
      </p:sp>
      <p:sp>
        <p:nvSpPr>
          <p:cNvPr id="28" name="Shape 26"/>
          <p:cNvSpPr/>
          <p:nvPr/>
        </p:nvSpPr>
        <p:spPr>
          <a:xfrm>
            <a:off x="8277149" y="3200400"/>
            <a:ext cx="0" cy="434340"/>
          </a:xfrm>
          <a:prstGeom prst="line">
            <a:avLst/>
          </a:prstGeom>
          <a:noFill/>
          <a:ln w="10160">
            <a:solidFill>
              <a:srgbClr val="D9D9D9"/>
            </a:solidFill>
            <a:prstDash val="solid"/>
          </a:ln>
        </p:spPr>
      </p:sp>
      <p:sp>
        <p:nvSpPr>
          <p:cNvPr id="29" name="Text 27"/>
          <p:cNvSpPr/>
          <p:nvPr/>
        </p:nvSpPr>
        <p:spPr>
          <a:xfrm>
            <a:off x="6473952" y="3246120"/>
            <a:ext cx="1730045" cy="342900"/>
          </a:xfrm>
          <a:prstGeom prst="rect">
            <a:avLst/>
          </a:prstGeom>
          <a:noFill/>
        </p:spPr>
        <p:txBody>
          <a:bodyPr wrap="square" lIns="508" tIns="508" rIns="508" bIns="508" rtlCol="0" anchor="ctr">
            <a:normAutofit/>
          </a:bodyPr>
          <a:lstStyle/>
          <a:p>
            <a:pPr marL="0" indent="0">
              <a:buNone/>
            </a:pPr>
            <a:r>
              <a:rPr lang="en-US" sz="1700" dirty="0">
                <a:solidFill>
                  <a:srgbClr val="111111"/>
                </a:solidFill>
                <a:latin typeface="Arial" panose="020B0604020202020204" pitchFamily="34" charset="0"/>
                <a:ea typeface="Arial" panose="020B0604020202020204" pitchFamily="34" charset="-122"/>
                <a:cs typeface="Arial" panose="020B0604020202020204" pitchFamily="34" charset="-120"/>
              </a:rPr>
              <a:t>Train / Test</a:t>
            </a:r>
            <a:endParaRPr lang="en-US" sz="1700" dirty="0"/>
          </a:p>
        </p:txBody>
      </p:sp>
      <p:sp>
        <p:nvSpPr>
          <p:cNvPr id="30" name="Text 28"/>
          <p:cNvSpPr/>
          <p:nvPr/>
        </p:nvSpPr>
        <p:spPr>
          <a:xfrm>
            <a:off x="8350301" y="3246120"/>
            <a:ext cx="2915107" cy="342900"/>
          </a:xfrm>
          <a:prstGeom prst="rect">
            <a:avLst/>
          </a:prstGeom>
          <a:noFill/>
        </p:spPr>
        <p:txBody>
          <a:bodyPr wrap="square" lIns="508" tIns="508" rIns="508" bIns="508" rtlCol="0" anchor="ctr">
            <a:normAutofit/>
          </a:bodyPr>
          <a:lstStyle/>
          <a:p>
            <a:pPr marL="0" indent="0">
              <a:buNone/>
            </a:pPr>
            <a:r>
              <a:rPr lang="en-US" sz="1700" dirty="0">
                <a:solidFill>
                  <a:srgbClr val="111111"/>
                </a:solidFill>
                <a:latin typeface="Arial" panose="020B0604020202020204" pitchFamily="34" charset="0"/>
                <a:ea typeface="Arial" panose="020B0604020202020204" pitchFamily="34" charset="-122"/>
                <a:cs typeface="Arial" panose="020B0604020202020204" pitchFamily="34" charset="-120"/>
              </a:rPr>
              <a:t>165 / 43</a:t>
            </a:r>
            <a:endParaRPr lang="en-US" sz="1700" dirty="0"/>
          </a:p>
        </p:txBody>
      </p:sp>
      <p:sp>
        <p:nvSpPr>
          <p:cNvPr id="31" name="Shape 29"/>
          <p:cNvSpPr/>
          <p:nvPr/>
        </p:nvSpPr>
        <p:spPr>
          <a:xfrm>
            <a:off x="6400800" y="3634740"/>
            <a:ext cx="4937760" cy="434340"/>
          </a:xfrm>
          <a:prstGeom prst="rect">
            <a:avLst/>
          </a:prstGeom>
          <a:solidFill>
            <a:srgbClr val="FFFFFF"/>
          </a:solidFill>
          <a:ln w="10160">
            <a:solidFill>
              <a:srgbClr val="D9D9D9"/>
            </a:solidFill>
            <a:prstDash val="solid"/>
          </a:ln>
        </p:spPr>
      </p:sp>
      <p:sp>
        <p:nvSpPr>
          <p:cNvPr id="32" name="Shape 30"/>
          <p:cNvSpPr/>
          <p:nvPr/>
        </p:nvSpPr>
        <p:spPr>
          <a:xfrm>
            <a:off x="8277149" y="3634740"/>
            <a:ext cx="0" cy="434340"/>
          </a:xfrm>
          <a:prstGeom prst="line">
            <a:avLst/>
          </a:prstGeom>
          <a:noFill/>
          <a:ln w="10160">
            <a:solidFill>
              <a:srgbClr val="D9D9D9"/>
            </a:solidFill>
            <a:prstDash val="solid"/>
          </a:ln>
        </p:spPr>
      </p:sp>
      <p:sp>
        <p:nvSpPr>
          <p:cNvPr id="33" name="Text 31"/>
          <p:cNvSpPr/>
          <p:nvPr/>
        </p:nvSpPr>
        <p:spPr>
          <a:xfrm>
            <a:off x="6473952" y="3680460"/>
            <a:ext cx="1730045" cy="342900"/>
          </a:xfrm>
          <a:prstGeom prst="rect">
            <a:avLst/>
          </a:prstGeom>
          <a:noFill/>
        </p:spPr>
        <p:txBody>
          <a:bodyPr wrap="square" lIns="508" tIns="508" rIns="508" bIns="508" rtlCol="0" anchor="ctr">
            <a:normAutofit/>
          </a:bodyPr>
          <a:lstStyle/>
          <a:p>
            <a:pPr marL="0" indent="0">
              <a:buNone/>
            </a:pPr>
            <a:r>
              <a:rPr lang="en-US" sz="1700" dirty="0">
                <a:solidFill>
                  <a:srgbClr val="111111"/>
                </a:solidFill>
                <a:latin typeface="Arial" panose="020B0604020202020204" pitchFamily="34" charset="0"/>
                <a:ea typeface="Arial" panose="020B0604020202020204" pitchFamily="34" charset="-122"/>
                <a:cs typeface="Arial" panose="020B0604020202020204" pitchFamily="34" charset="-120"/>
              </a:rPr>
              <a:t>Accuracy</a:t>
            </a:r>
            <a:endParaRPr lang="en-US" sz="1700" dirty="0"/>
          </a:p>
        </p:txBody>
      </p:sp>
      <p:sp>
        <p:nvSpPr>
          <p:cNvPr id="34" name="Text 32"/>
          <p:cNvSpPr/>
          <p:nvPr/>
        </p:nvSpPr>
        <p:spPr>
          <a:xfrm>
            <a:off x="8350301" y="3680460"/>
            <a:ext cx="2915107" cy="342900"/>
          </a:xfrm>
          <a:prstGeom prst="rect">
            <a:avLst/>
          </a:prstGeom>
          <a:noFill/>
        </p:spPr>
        <p:txBody>
          <a:bodyPr wrap="square" lIns="508" tIns="508" rIns="508" bIns="508" rtlCol="0" anchor="ctr">
            <a:normAutofit/>
          </a:bodyPr>
          <a:lstStyle/>
          <a:p>
            <a:pPr marL="0" indent="0">
              <a:buNone/>
            </a:pPr>
            <a:r>
              <a:rPr lang="en-US" sz="1700" dirty="0">
                <a:solidFill>
                  <a:srgbClr val="111111"/>
                </a:solidFill>
                <a:latin typeface="Arial" panose="020B0604020202020204" pitchFamily="34" charset="0"/>
                <a:ea typeface="Arial" panose="020B0604020202020204" pitchFamily="34" charset="-122"/>
                <a:cs typeface="Arial" panose="020B0604020202020204" pitchFamily="34" charset="-120"/>
              </a:rPr>
              <a:t>90,70%</a:t>
            </a:r>
            <a:endParaRPr lang="en-US" sz="1700" dirty="0"/>
          </a:p>
        </p:txBody>
      </p:sp>
      <p:sp>
        <p:nvSpPr>
          <p:cNvPr id="35" name="Shape 33"/>
          <p:cNvSpPr/>
          <p:nvPr/>
        </p:nvSpPr>
        <p:spPr>
          <a:xfrm>
            <a:off x="6400800" y="4069080"/>
            <a:ext cx="4937760" cy="434340"/>
          </a:xfrm>
          <a:prstGeom prst="rect">
            <a:avLst/>
          </a:prstGeom>
          <a:solidFill>
            <a:srgbClr val="FFFFFF"/>
          </a:solidFill>
          <a:ln w="10160">
            <a:solidFill>
              <a:srgbClr val="D9D9D9"/>
            </a:solidFill>
            <a:prstDash val="solid"/>
          </a:ln>
        </p:spPr>
      </p:sp>
      <p:sp>
        <p:nvSpPr>
          <p:cNvPr id="36" name="Shape 34"/>
          <p:cNvSpPr/>
          <p:nvPr/>
        </p:nvSpPr>
        <p:spPr>
          <a:xfrm>
            <a:off x="8277149" y="4069080"/>
            <a:ext cx="0" cy="434340"/>
          </a:xfrm>
          <a:prstGeom prst="line">
            <a:avLst/>
          </a:prstGeom>
          <a:noFill/>
          <a:ln w="10160">
            <a:solidFill>
              <a:srgbClr val="D9D9D9"/>
            </a:solidFill>
            <a:prstDash val="solid"/>
          </a:ln>
        </p:spPr>
      </p:sp>
      <p:sp>
        <p:nvSpPr>
          <p:cNvPr id="37" name="Text 35"/>
          <p:cNvSpPr/>
          <p:nvPr/>
        </p:nvSpPr>
        <p:spPr>
          <a:xfrm>
            <a:off x="6473952" y="4114800"/>
            <a:ext cx="1730045" cy="342900"/>
          </a:xfrm>
          <a:prstGeom prst="rect">
            <a:avLst/>
          </a:prstGeom>
          <a:noFill/>
        </p:spPr>
        <p:txBody>
          <a:bodyPr wrap="square" lIns="508" tIns="508" rIns="508" bIns="508" rtlCol="0" anchor="ctr">
            <a:normAutofit/>
          </a:bodyPr>
          <a:lstStyle/>
          <a:p>
            <a:pPr marL="0" indent="0">
              <a:buNone/>
            </a:pPr>
            <a:r>
              <a:rPr lang="en-US" sz="1700" dirty="0">
                <a:solidFill>
                  <a:srgbClr val="111111"/>
                </a:solidFill>
                <a:latin typeface="Arial" panose="020B0604020202020204" pitchFamily="34" charset="0"/>
                <a:ea typeface="Arial" panose="020B0604020202020204" pitchFamily="34" charset="-122"/>
                <a:cs typeface="Arial" panose="020B0604020202020204" pitchFamily="34" charset="-120"/>
              </a:rPr>
              <a:t>Macro F1</a:t>
            </a:r>
            <a:endParaRPr lang="en-US" sz="1700" dirty="0"/>
          </a:p>
        </p:txBody>
      </p:sp>
      <p:sp>
        <p:nvSpPr>
          <p:cNvPr id="38" name="Text 36"/>
          <p:cNvSpPr/>
          <p:nvPr/>
        </p:nvSpPr>
        <p:spPr>
          <a:xfrm>
            <a:off x="8350301" y="4114800"/>
            <a:ext cx="2915107" cy="342900"/>
          </a:xfrm>
          <a:prstGeom prst="rect">
            <a:avLst/>
          </a:prstGeom>
          <a:noFill/>
        </p:spPr>
        <p:txBody>
          <a:bodyPr wrap="square" lIns="508" tIns="508" rIns="508" bIns="508" rtlCol="0" anchor="ctr">
            <a:normAutofit/>
          </a:bodyPr>
          <a:lstStyle/>
          <a:p>
            <a:pPr marL="0" indent="0">
              <a:buNone/>
            </a:pPr>
            <a:r>
              <a:rPr lang="en-US" sz="1700" dirty="0">
                <a:solidFill>
                  <a:srgbClr val="111111"/>
                </a:solidFill>
                <a:latin typeface="Arial" panose="020B0604020202020204" pitchFamily="34" charset="0"/>
                <a:ea typeface="Arial" panose="020B0604020202020204" pitchFamily="34" charset="-122"/>
                <a:cs typeface="Arial" panose="020B0604020202020204" pitchFamily="34" charset="-120"/>
              </a:rPr>
              <a:t>89,29%</a:t>
            </a:r>
            <a:endParaRPr lang="en-US" sz="1700" dirty="0"/>
          </a:p>
        </p:txBody>
      </p:sp>
      <p:sp>
        <p:nvSpPr>
          <p:cNvPr id="39" name="Shape 37"/>
          <p:cNvSpPr/>
          <p:nvPr/>
        </p:nvSpPr>
        <p:spPr>
          <a:xfrm>
            <a:off x="6400800" y="4503420"/>
            <a:ext cx="4937760" cy="434340"/>
          </a:xfrm>
          <a:prstGeom prst="rect">
            <a:avLst/>
          </a:prstGeom>
          <a:solidFill>
            <a:srgbClr val="FFFFFF"/>
          </a:solidFill>
          <a:ln w="10160">
            <a:solidFill>
              <a:srgbClr val="D9D9D9"/>
            </a:solidFill>
            <a:prstDash val="solid"/>
          </a:ln>
        </p:spPr>
      </p:sp>
      <p:sp>
        <p:nvSpPr>
          <p:cNvPr id="40" name="Shape 38"/>
          <p:cNvSpPr/>
          <p:nvPr/>
        </p:nvSpPr>
        <p:spPr>
          <a:xfrm>
            <a:off x="8277149" y="4503420"/>
            <a:ext cx="0" cy="434340"/>
          </a:xfrm>
          <a:prstGeom prst="line">
            <a:avLst/>
          </a:prstGeom>
          <a:noFill/>
          <a:ln w="10160">
            <a:solidFill>
              <a:srgbClr val="D9D9D9"/>
            </a:solidFill>
            <a:prstDash val="solid"/>
          </a:ln>
        </p:spPr>
      </p:sp>
      <p:sp>
        <p:nvSpPr>
          <p:cNvPr id="41" name="Text 39"/>
          <p:cNvSpPr/>
          <p:nvPr/>
        </p:nvSpPr>
        <p:spPr>
          <a:xfrm>
            <a:off x="6473952" y="4549140"/>
            <a:ext cx="1730045" cy="342900"/>
          </a:xfrm>
          <a:prstGeom prst="rect">
            <a:avLst/>
          </a:prstGeom>
          <a:noFill/>
        </p:spPr>
        <p:txBody>
          <a:bodyPr wrap="square" lIns="508" tIns="508" rIns="508" bIns="508" rtlCol="0" anchor="ctr">
            <a:normAutofit/>
          </a:bodyPr>
          <a:lstStyle/>
          <a:p>
            <a:pPr marL="0" indent="0">
              <a:buNone/>
            </a:pPr>
            <a:r>
              <a:rPr lang="en-US" sz="1700" dirty="0">
                <a:solidFill>
                  <a:srgbClr val="111111"/>
                </a:solidFill>
                <a:latin typeface="Arial" panose="020B0604020202020204" pitchFamily="34" charset="0"/>
                <a:ea typeface="Arial" panose="020B0604020202020204" pitchFamily="34" charset="-122"/>
                <a:cs typeface="Arial" panose="020B0604020202020204" pitchFamily="34" charset="-120"/>
              </a:rPr>
              <a:t>Weighted F1</a:t>
            </a:r>
            <a:endParaRPr lang="en-US" sz="1700" dirty="0"/>
          </a:p>
        </p:txBody>
      </p:sp>
      <p:sp>
        <p:nvSpPr>
          <p:cNvPr id="42" name="Text 40"/>
          <p:cNvSpPr/>
          <p:nvPr/>
        </p:nvSpPr>
        <p:spPr>
          <a:xfrm>
            <a:off x="8350301" y="4549140"/>
            <a:ext cx="2915107" cy="342900"/>
          </a:xfrm>
          <a:prstGeom prst="rect">
            <a:avLst/>
          </a:prstGeom>
          <a:noFill/>
        </p:spPr>
        <p:txBody>
          <a:bodyPr wrap="square" lIns="508" tIns="508" rIns="508" bIns="508" rtlCol="0" anchor="ctr">
            <a:normAutofit/>
          </a:bodyPr>
          <a:lstStyle/>
          <a:p>
            <a:pPr marL="0" indent="0">
              <a:buNone/>
            </a:pPr>
            <a:r>
              <a:rPr lang="en-US" sz="1700" dirty="0">
                <a:solidFill>
                  <a:srgbClr val="111111"/>
                </a:solidFill>
                <a:latin typeface="Arial" panose="020B0604020202020204" pitchFamily="34" charset="0"/>
                <a:ea typeface="Arial" panose="020B0604020202020204" pitchFamily="34" charset="-122"/>
                <a:cs typeface="Arial" panose="020B0604020202020204" pitchFamily="34" charset="-120"/>
              </a:rPr>
              <a:t>90,70%</a:t>
            </a:r>
            <a:endParaRPr lang="en-US" sz="1700" dirty="0"/>
          </a:p>
        </p:txBody>
      </p:sp>
      <p:sp>
        <p:nvSpPr>
          <p:cNvPr id="43" name="Text 41"/>
          <p:cNvSpPr/>
          <p:nvPr/>
        </p:nvSpPr>
        <p:spPr>
          <a:xfrm>
            <a:off x="777240" y="5303520"/>
            <a:ext cx="10698480" cy="502920"/>
          </a:xfrm>
          <a:prstGeom prst="rect">
            <a:avLst/>
          </a:prstGeom>
          <a:noFill/>
        </p:spPr>
        <p:txBody>
          <a:bodyPr wrap="square" lIns="381" tIns="381" rIns="381" bIns="381" rtlCol="0" anchor="ctr">
            <a:normAutofit/>
          </a:bodyPr>
          <a:lstStyle/>
          <a:p>
            <a:pPr marL="0" indent="0">
              <a:buNone/>
            </a:pPr>
            <a:r>
              <a:rPr lang="en-US" sz="1700" dirty="0">
                <a:solidFill>
                  <a:srgbClr val="111111"/>
                </a:solidFill>
                <a:latin typeface="Arial" panose="020B0604020202020204" pitchFamily="34" charset="0"/>
                <a:ea typeface="Arial" panose="020B0604020202020204" pitchFamily="34" charset="-122"/>
                <a:cs typeface="Arial" panose="020B0604020202020204" pitchFamily="34" charset="-120"/>
              </a:rPr>
              <a:t>AI không trả YES/NO. AI chỉ giúp hệ thống hiểu cột nào là mã nhân viên, họ tên, đơn vị hoặc trường khác.</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20040"/>
            <a:ext cx="11201400" cy="384048"/>
          </a:xfrm>
          <a:prstGeom prst="rect">
            <a:avLst/>
          </a:prstGeom>
          <a:noFill/>
        </p:spPr>
        <p:txBody>
          <a:bodyPr wrap="square" lIns="0" tIns="0" rIns="0" bIns="0" rtlCol="0" anchor="ctr"/>
          <a:lstStyle/>
          <a:p>
            <a:pPr marL="0" indent="0">
              <a:buNone/>
            </a:pPr>
            <a:r>
              <a:rPr lang="en-US" sz="2300" b="1" dirty="0">
                <a:solidFill>
                  <a:srgbClr val="111111"/>
                </a:solidFill>
                <a:latin typeface="Arial" panose="020B0604020202020204" pitchFamily="34" charset="0"/>
                <a:ea typeface="Arial" panose="020B0604020202020204" pitchFamily="34" charset="-122"/>
                <a:cs typeface="Arial" panose="020B0604020202020204" pitchFamily="34" charset="-120"/>
              </a:rPr>
              <a:t>6. Preview, Validation và Commit</a:t>
            </a:r>
            <a:endParaRPr lang="en-US" sz="2300" dirty="0"/>
          </a:p>
        </p:txBody>
      </p:sp>
      <p:sp>
        <p:nvSpPr>
          <p:cNvPr id="3" name="Shape 1"/>
          <p:cNvSpPr/>
          <p:nvPr/>
        </p:nvSpPr>
        <p:spPr>
          <a:xfrm>
            <a:off x="502920" y="804672"/>
            <a:ext cx="11201400" cy="0"/>
          </a:xfrm>
          <a:prstGeom prst="line">
            <a:avLst/>
          </a:prstGeom>
          <a:noFill/>
          <a:ln w="12700">
            <a:solidFill>
              <a:srgbClr val="D9D9D9"/>
            </a:solidFill>
            <a:prstDash val="solid"/>
          </a:ln>
        </p:spPr>
      </p:sp>
      <p:sp>
        <p:nvSpPr>
          <p:cNvPr id="4" name="Shape 2"/>
          <p:cNvSpPr/>
          <p:nvPr/>
        </p:nvSpPr>
        <p:spPr>
          <a:xfrm>
            <a:off x="594360" y="1005840"/>
            <a:ext cx="6675120" cy="3108960"/>
          </a:xfrm>
          <a:prstGeom prst="rect">
            <a:avLst/>
          </a:prstGeom>
          <a:solidFill>
            <a:srgbClr val="FFFFFF">
              <a:alpha val="0"/>
            </a:srgbClr>
          </a:solidFill>
          <a:ln w="12700">
            <a:solidFill>
              <a:srgbClr val="D9D9D9"/>
            </a:solidFill>
            <a:prstDash val="solid"/>
          </a:ln>
        </p:spPr>
      </p:sp>
      <p:pic>
        <p:nvPicPr>
          <p:cNvPr id="5" name="Image 0" descr="/mnt/data/ppt_assets/preview.png"/>
          <p:cNvPicPr>
            <a:picLocks noChangeAspect="1"/>
          </p:cNvPicPr>
          <p:nvPr/>
        </p:nvPicPr>
        <p:blipFill>
          <a:blip r:embed="rId1"/>
          <a:srcRect t="1400" b="1400"/>
          <a:stretch>
            <a:fillRect/>
          </a:stretch>
        </p:blipFill>
        <p:spPr>
          <a:xfrm>
            <a:off x="594360" y="1005840"/>
            <a:ext cx="6675120" cy="3108960"/>
          </a:xfrm>
          <a:prstGeom prst="rect">
            <a:avLst/>
          </a:prstGeom>
        </p:spPr>
      </p:pic>
      <p:sp>
        <p:nvSpPr>
          <p:cNvPr id="6" name="Text 3"/>
          <p:cNvSpPr/>
          <p:nvPr/>
        </p:nvSpPr>
        <p:spPr>
          <a:xfrm>
            <a:off x="7543800" y="1097280"/>
            <a:ext cx="4069080" cy="2240280"/>
          </a:xfrm>
          <a:prstGeom prst="rect">
            <a:avLst/>
          </a:prstGeom>
          <a:noFill/>
        </p:spPr>
        <p:txBody>
          <a:bodyPr wrap="square" lIns="381" tIns="381" rIns="381" bIns="381" rtlCol="0" anchor="ctr">
            <a:normAutofit/>
          </a:bodyPr>
          <a:lstStyle/>
          <a:p>
            <a:pPr marL="228600" indent="-228600">
              <a:buSzPct val="100000"/>
              <a:buChar char="•"/>
            </a:pPr>
            <a:r>
              <a:rPr lang="en-US" sz="1800" dirty="0">
                <a:solidFill>
                  <a:srgbClr val="111111"/>
                </a:solidFill>
                <a:latin typeface="Arial" panose="020B0604020202020204" pitchFamily="34" charset="0"/>
                <a:ea typeface="Arial" panose="020B0604020202020204" pitchFamily="34" charset="-122"/>
                <a:cs typeface="Arial" panose="020B0604020202020204" pitchFamily="34" charset="-120"/>
              </a:rPr>
              <a:t>Preview hiển thị cột nguồn, mapping, confidence và giá trị mẫu.</a:t>
            </a:r>
            <a:endParaRPr lang="en-US" sz="1800" dirty="0"/>
          </a:p>
          <a:p>
            <a:pPr marL="228600" indent="-228600">
              <a:buSzPct val="100000"/>
              <a:buChar char="•"/>
            </a:pPr>
            <a:r>
              <a:rPr lang="en-US" sz="1800" dirty="0">
                <a:solidFill>
                  <a:srgbClr val="111111"/>
                </a:solidFill>
                <a:latin typeface="Arial" panose="020B0604020202020204" pitchFamily="34" charset="0"/>
                <a:ea typeface="Arial" panose="020B0604020202020204" pitchFamily="34" charset="-122"/>
                <a:cs typeface="Arial" panose="020B0604020202020204" pitchFamily="34" charset="-120"/>
              </a:rPr>
              <a:t>Validation kiểm tra thiếu trường bắt buộc, duplicate mapping, dữ liệu sai.</a:t>
            </a:r>
            <a:endParaRPr lang="en-US" sz="1800" dirty="0"/>
          </a:p>
          <a:p>
            <a:pPr marL="228600" indent="-228600">
              <a:buSzPct val="100000"/>
              <a:buChar char="•"/>
            </a:pPr>
            <a:r>
              <a:rPr lang="en-US" sz="1800" dirty="0">
                <a:solidFill>
                  <a:srgbClr val="111111"/>
                </a:solidFill>
                <a:latin typeface="Arial" panose="020B0604020202020204" pitchFamily="34" charset="0"/>
                <a:ea typeface="Arial" panose="020B0604020202020204" pitchFamily="34" charset="-122"/>
                <a:cs typeface="Arial" panose="020B0604020202020204" pitchFamily="34" charset="-120"/>
              </a:rPr>
              <a:t>Commit chỉ chạy khi dữ liệu đạt điều kiện kiểm tra.</a:t>
            </a:r>
            <a:endParaRPr lang="en-US" sz="1800" dirty="0"/>
          </a:p>
        </p:txBody>
      </p:sp>
      <p:sp>
        <p:nvSpPr>
          <p:cNvPr id="7" name="Shape 4"/>
          <p:cNvSpPr/>
          <p:nvPr/>
        </p:nvSpPr>
        <p:spPr>
          <a:xfrm>
            <a:off x="7543800" y="3794760"/>
            <a:ext cx="4069080" cy="445770"/>
          </a:xfrm>
          <a:prstGeom prst="rect">
            <a:avLst/>
          </a:prstGeom>
          <a:solidFill>
            <a:srgbClr val="F4F4F4"/>
          </a:solidFill>
          <a:ln w="10160">
            <a:solidFill>
              <a:srgbClr val="D9D9D9"/>
            </a:solidFill>
            <a:prstDash val="solid"/>
          </a:ln>
        </p:spPr>
      </p:sp>
      <p:sp>
        <p:nvSpPr>
          <p:cNvPr id="8" name="Shape 5"/>
          <p:cNvSpPr/>
          <p:nvPr/>
        </p:nvSpPr>
        <p:spPr>
          <a:xfrm>
            <a:off x="9090050" y="3794760"/>
            <a:ext cx="0" cy="445770"/>
          </a:xfrm>
          <a:prstGeom prst="line">
            <a:avLst/>
          </a:prstGeom>
          <a:noFill/>
          <a:ln w="10160">
            <a:solidFill>
              <a:srgbClr val="D9D9D9"/>
            </a:solidFill>
            <a:prstDash val="solid"/>
          </a:ln>
        </p:spPr>
      </p:sp>
      <p:sp>
        <p:nvSpPr>
          <p:cNvPr id="9" name="Text 6"/>
          <p:cNvSpPr/>
          <p:nvPr/>
        </p:nvSpPr>
        <p:spPr>
          <a:xfrm>
            <a:off x="7616952" y="3840480"/>
            <a:ext cx="1399946" cy="354330"/>
          </a:xfrm>
          <a:prstGeom prst="rect">
            <a:avLst/>
          </a:prstGeom>
          <a:noFill/>
        </p:spPr>
        <p:txBody>
          <a:bodyPr wrap="square" lIns="508" tIns="508" rIns="508" bIns="508" rtlCol="0" anchor="ctr">
            <a:normAutofit/>
          </a:bodyPr>
          <a:lstStyle/>
          <a:p>
            <a:pPr marL="0" indent="0">
              <a:buNone/>
            </a:pPr>
            <a:r>
              <a:rPr lang="en-US" sz="1700" b="1" dirty="0">
                <a:solidFill>
                  <a:srgbClr val="111111"/>
                </a:solidFill>
                <a:latin typeface="Arial" panose="020B0604020202020204" pitchFamily="34" charset="0"/>
                <a:ea typeface="Arial" panose="020B0604020202020204" pitchFamily="34" charset="-122"/>
                <a:cs typeface="Arial" panose="020B0604020202020204" pitchFamily="34" charset="-120"/>
              </a:rPr>
              <a:t>Chế độ</a:t>
            </a:r>
            <a:endParaRPr lang="en-US" sz="1700" dirty="0"/>
          </a:p>
        </p:txBody>
      </p:sp>
      <p:sp>
        <p:nvSpPr>
          <p:cNvPr id="10" name="Text 7"/>
          <p:cNvSpPr/>
          <p:nvPr/>
        </p:nvSpPr>
        <p:spPr>
          <a:xfrm>
            <a:off x="9163202" y="3840480"/>
            <a:ext cx="2376526" cy="354330"/>
          </a:xfrm>
          <a:prstGeom prst="rect">
            <a:avLst/>
          </a:prstGeom>
          <a:noFill/>
        </p:spPr>
        <p:txBody>
          <a:bodyPr wrap="square" lIns="508" tIns="508" rIns="508" bIns="508" rtlCol="0" anchor="ctr">
            <a:normAutofit/>
          </a:bodyPr>
          <a:lstStyle/>
          <a:p>
            <a:pPr marL="0" indent="0">
              <a:buNone/>
            </a:pPr>
            <a:r>
              <a:rPr lang="en-US" sz="1700" b="1" dirty="0">
                <a:solidFill>
                  <a:srgbClr val="111111"/>
                </a:solidFill>
                <a:latin typeface="Arial" panose="020B0604020202020204" pitchFamily="34" charset="0"/>
                <a:ea typeface="Arial" panose="020B0604020202020204" pitchFamily="34" charset="-122"/>
                <a:cs typeface="Arial" panose="020B0604020202020204" pitchFamily="34" charset="-120"/>
              </a:rPr>
              <a:t>Cách hoạt động</a:t>
            </a:r>
            <a:endParaRPr lang="en-US" sz="1700" dirty="0"/>
          </a:p>
        </p:txBody>
      </p:sp>
      <p:sp>
        <p:nvSpPr>
          <p:cNvPr id="11" name="Shape 8"/>
          <p:cNvSpPr/>
          <p:nvPr/>
        </p:nvSpPr>
        <p:spPr>
          <a:xfrm>
            <a:off x="7543800" y="4240530"/>
            <a:ext cx="4069080" cy="445770"/>
          </a:xfrm>
          <a:prstGeom prst="rect">
            <a:avLst/>
          </a:prstGeom>
          <a:solidFill>
            <a:srgbClr val="FFFFFF"/>
          </a:solidFill>
          <a:ln w="10160">
            <a:solidFill>
              <a:srgbClr val="D9D9D9"/>
            </a:solidFill>
            <a:prstDash val="solid"/>
          </a:ln>
        </p:spPr>
      </p:sp>
      <p:sp>
        <p:nvSpPr>
          <p:cNvPr id="12" name="Shape 9"/>
          <p:cNvSpPr/>
          <p:nvPr/>
        </p:nvSpPr>
        <p:spPr>
          <a:xfrm>
            <a:off x="9090050" y="4240530"/>
            <a:ext cx="0" cy="445770"/>
          </a:xfrm>
          <a:prstGeom prst="line">
            <a:avLst/>
          </a:prstGeom>
          <a:noFill/>
          <a:ln w="10160">
            <a:solidFill>
              <a:srgbClr val="D9D9D9"/>
            </a:solidFill>
            <a:prstDash val="solid"/>
          </a:ln>
        </p:spPr>
      </p:sp>
      <p:sp>
        <p:nvSpPr>
          <p:cNvPr id="13" name="Text 10"/>
          <p:cNvSpPr/>
          <p:nvPr/>
        </p:nvSpPr>
        <p:spPr>
          <a:xfrm>
            <a:off x="7616952" y="4286250"/>
            <a:ext cx="1399946" cy="354330"/>
          </a:xfrm>
          <a:prstGeom prst="rect">
            <a:avLst/>
          </a:prstGeom>
          <a:noFill/>
        </p:spPr>
        <p:txBody>
          <a:bodyPr wrap="square" lIns="508" tIns="508" rIns="508" bIns="508" rtlCol="0" anchor="ctr">
            <a:normAutofit/>
          </a:bodyPr>
          <a:lstStyle/>
          <a:p>
            <a:pPr marL="0" indent="0">
              <a:buNone/>
            </a:pPr>
            <a:r>
              <a:rPr lang="en-US" sz="1700" dirty="0">
                <a:solidFill>
                  <a:srgbClr val="111111"/>
                </a:solidFill>
                <a:latin typeface="Arial" panose="020B0604020202020204" pitchFamily="34" charset="0"/>
                <a:ea typeface="Arial" panose="020B0604020202020204" pitchFamily="34" charset="-122"/>
                <a:cs typeface="Arial" panose="020B0604020202020204" pitchFamily="34" charset="-120"/>
              </a:rPr>
              <a:t>APPEND</a:t>
            </a:r>
            <a:endParaRPr lang="en-US" sz="1700" dirty="0"/>
          </a:p>
        </p:txBody>
      </p:sp>
      <p:sp>
        <p:nvSpPr>
          <p:cNvPr id="14" name="Text 11"/>
          <p:cNvSpPr/>
          <p:nvPr/>
        </p:nvSpPr>
        <p:spPr>
          <a:xfrm>
            <a:off x="9163202" y="4286250"/>
            <a:ext cx="2376526" cy="354330"/>
          </a:xfrm>
          <a:prstGeom prst="rect">
            <a:avLst/>
          </a:prstGeom>
          <a:noFill/>
        </p:spPr>
        <p:txBody>
          <a:bodyPr wrap="square" lIns="508" tIns="508" rIns="508" bIns="508" rtlCol="0" anchor="ctr">
            <a:normAutofit/>
          </a:bodyPr>
          <a:lstStyle/>
          <a:p>
            <a:pPr marL="0" indent="0">
              <a:buNone/>
            </a:pPr>
            <a:r>
              <a:rPr lang="en-US" sz="1700" dirty="0">
                <a:solidFill>
                  <a:srgbClr val="111111"/>
                </a:solidFill>
                <a:latin typeface="Arial" panose="020B0604020202020204" pitchFamily="34" charset="0"/>
                <a:ea typeface="Arial" panose="020B0604020202020204" pitchFamily="34" charset="-122"/>
                <a:cs typeface="Arial" panose="020B0604020202020204" pitchFamily="34" charset="-120"/>
              </a:rPr>
              <a:t>Chỉ thêm mới</a:t>
            </a:r>
            <a:endParaRPr lang="en-US" sz="1700" dirty="0"/>
          </a:p>
        </p:txBody>
      </p:sp>
      <p:sp>
        <p:nvSpPr>
          <p:cNvPr id="15" name="Shape 12"/>
          <p:cNvSpPr/>
          <p:nvPr/>
        </p:nvSpPr>
        <p:spPr>
          <a:xfrm>
            <a:off x="7543800" y="4686300"/>
            <a:ext cx="4069080" cy="445770"/>
          </a:xfrm>
          <a:prstGeom prst="rect">
            <a:avLst/>
          </a:prstGeom>
          <a:solidFill>
            <a:srgbClr val="FFFFFF"/>
          </a:solidFill>
          <a:ln w="10160">
            <a:solidFill>
              <a:srgbClr val="D9D9D9"/>
            </a:solidFill>
            <a:prstDash val="solid"/>
          </a:ln>
        </p:spPr>
      </p:sp>
      <p:sp>
        <p:nvSpPr>
          <p:cNvPr id="16" name="Shape 13"/>
          <p:cNvSpPr/>
          <p:nvPr/>
        </p:nvSpPr>
        <p:spPr>
          <a:xfrm>
            <a:off x="9090050" y="4686300"/>
            <a:ext cx="0" cy="445770"/>
          </a:xfrm>
          <a:prstGeom prst="line">
            <a:avLst/>
          </a:prstGeom>
          <a:noFill/>
          <a:ln w="10160">
            <a:solidFill>
              <a:srgbClr val="D9D9D9"/>
            </a:solidFill>
            <a:prstDash val="solid"/>
          </a:ln>
        </p:spPr>
      </p:sp>
      <p:sp>
        <p:nvSpPr>
          <p:cNvPr id="17" name="Text 14"/>
          <p:cNvSpPr/>
          <p:nvPr/>
        </p:nvSpPr>
        <p:spPr>
          <a:xfrm>
            <a:off x="7616952" y="4732020"/>
            <a:ext cx="1399946" cy="354330"/>
          </a:xfrm>
          <a:prstGeom prst="rect">
            <a:avLst/>
          </a:prstGeom>
          <a:noFill/>
        </p:spPr>
        <p:txBody>
          <a:bodyPr wrap="square" lIns="508" tIns="508" rIns="508" bIns="508" rtlCol="0" anchor="ctr">
            <a:normAutofit/>
          </a:bodyPr>
          <a:lstStyle/>
          <a:p>
            <a:pPr marL="0" indent="0">
              <a:buNone/>
            </a:pPr>
            <a:r>
              <a:rPr lang="en-US" sz="1700" dirty="0">
                <a:solidFill>
                  <a:srgbClr val="111111"/>
                </a:solidFill>
                <a:latin typeface="Arial" panose="020B0604020202020204" pitchFamily="34" charset="0"/>
                <a:ea typeface="Arial" panose="020B0604020202020204" pitchFamily="34" charset="-122"/>
                <a:cs typeface="Arial" panose="020B0604020202020204" pitchFamily="34" charset="-120"/>
              </a:rPr>
              <a:t>UPSERT</a:t>
            </a:r>
            <a:endParaRPr lang="en-US" sz="1700" dirty="0"/>
          </a:p>
        </p:txBody>
      </p:sp>
      <p:sp>
        <p:nvSpPr>
          <p:cNvPr id="18" name="Text 15"/>
          <p:cNvSpPr/>
          <p:nvPr/>
        </p:nvSpPr>
        <p:spPr>
          <a:xfrm>
            <a:off x="9163202" y="4732020"/>
            <a:ext cx="2376526" cy="354330"/>
          </a:xfrm>
          <a:prstGeom prst="rect">
            <a:avLst/>
          </a:prstGeom>
          <a:noFill/>
        </p:spPr>
        <p:txBody>
          <a:bodyPr wrap="square" lIns="508" tIns="508" rIns="508" bIns="508" rtlCol="0" anchor="ctr">
            <a:normAutofit/>
          </a:bodyPr>
          <a:lstStyle/>
          <a:p>
            <a:pPr marL="0" indent="0">
              <a:buNone/>
            </a:pPr>
            <a:r>
              <a:rPr lang="en-US" sz="1700" dirty="0">
                <a:solidFill>
                  <a:srgbClr val="111111"/>
                </a:solidFill>
                <a:latin typeface="Arial" panose="020B0604020202020204" pitchFamily="34" charset="0"/>
                <a:ea typeface="Arial" panose="020B0604020202020204" pitchFamily="34" charset="-122"/>
                <a:cs typeface="Arial" panose="020B0604020202020204" pitchFamily="34" charset="-120"/>
              </a:rPr>
              <a:t>Thêm mới hoặc cập nhật</a:t>
            </a:r>
            <a:endParaRPr lang="en-US" sz="1700" dirty="0"/>
          </a:p>
        </p:txBody>
      </p:sp>
      <p:sp>
        <p:nvSpPr>
          <p:cNvPr id="19" name="Shape 16"/>
          <p:cNvSpPr/>
          <p:nvPr/>
        </p:nvSpPr>
        <p:spPr>
          <a:xfrm>
            <a:off x="7543800" y="5132070"/>
            <a:ext cx="4069080" cy="445770"/>
          </a:xfrm>
          <a:prstGeom prst="rect">
            <a:avLst/>
          </a:prstGeom>
          <a:solidFill>
            <a:srgbClr val="FFFFFF"/>
          </a:solidFill>
          <a:ln w="10160">
            <a:solidFill>
              <a:srgbClr val="D9D9D9"/>
            </a:solidFill>
            <a:prstDash val="solid"/>
          </a:ln>
        </p:spPr>
      </p:sp>
      <p:sp>
        <p:nvSpPr>
          <p:cNvPr id="20" name="Shape 17"/>
          <p:cNvSpPr/>
          <p:nvPr/>
        </p:nvSpPr>
        <p:spPr>
          <a:xfrm>
            <a:off x="9090050" y="5132070"/>
            <a:ext cx="0" cy="445770"/>
          </a:xfrm>
          <a:prstGeom prst="line">
            <a:avLst/>
          </a:prstGeom>
          <a:noFill/>
          <a:ln w="10160">
            <a:solidFill>
              <a:srgbClr val="D9D9D9"/>
            </a:solidFill>
            <a:prstDash val="solid"/>
          </a:ln>
        </p:spPr>
      </p:sp>
      <p:sp>
        <p:nvSpPr>
          <p:cNvPr id="21" name="Text 18"/>
          <p:cNvSpPr/>
          <p:nvPr/>
        </p:nvSpPr>
        <p:spPr>
          <a:xfrm>
            <a:off x="7616952" y="5177790"/>
            <a:ext cx="1399946" cy="354330"/>
          </a:xfrm>
          <a:prstGeom prst="rect">
            <a:avLst/>
          </a:prstGeom>
          <a:noFill/>
        </p:spPr>
        <p:txBody>
          <a:bodyPr wrap="square" lIns="508" tIns="508" rIns="508" bIns="508" rtlCol="0" anchor="ctr">
            <a:normAutofit/>
          </a:bodyPr>
          <a:lstStyle/>
          <a:p>
            <a:pPr marL="0" indent="0">
              <a:buNone/>
            </a:pPr>
            <a:r>
              <a:rPr lang="en-US" sz="1700" dirty="0">
                <a:solidFill>
                  <a:srgbClr val="111111"/>
                </a:solidFill>
                <a:latin typeface="Arial" panose="020B0604020202020204" pitchFamily="34" charset="0"/>
                <a:ea typeface="Arial" panose="020B0604020202020204" pitchFamily="34" charset="-122"/>
                <a:cs typeface="Arial" panose="020B0604020202020204" pitchFamily="34" charset="-120"/>
              </a:rPr>
              <a:t>REPLACE</a:t>
            </a:r>
            <a:endParaRPr lang="en-US" sz="1700" dirty="0"/>
          </a:p>
        </p:txBody>
      </p:sp>
      <p:sp>
        <p:nvSpPr>
          <p:cNvPr id="22" name="Text 19"/>
          <p:cNvSpPr/>
          <p:nvPr/>
        </p:nvSpPr>
        <p:spPr>
          <a:xfrm>
            <a:off x="9163202" y="5177790"/>
            <a:ext cx="2376526" cy="354330"/>
          </a:xfrm>
          <a:prstGeom prst="rect">
            <a:avLst/>
          </a:prstGeom>
          <a:noFill/>
        </p:spPr>
        <p:txBody>
          <a:bodyPr wrap="square" lIns="508" tIns="508" rIns="508" bIns="508" rtlCol="0" anchor="ctr">
            <a:normAutofit/>
          </a:bodyPr>
          <a:lstStyle/>
          <a:p>
            <a:pPr marL="0" indent="0">
              <a:buNone/>
            </a:pPr>
            <a:r>
              <a:rPr lang="en-US" sz="1700" dirty="0">
                <a:solidFill>
                  <a:srgbClr val="111111"/>
                </a:solidFill>
                <a:latin typeface="Arial" panose="020B0604020202020204" pitchFamily="34" charset="0"/>
                <a:ea typeface="Arial" panose="020B0604020202020204" pitchFamily="34" charset="-122"/>
                <a:cs typeface="Arial" panose="020B0604020202020204" pitchFamily="34" charset="-120"/>
              </a:rPr>
              <a:t>Thay toàn bộ dữ liệu đúng loại</a:t>
            </a:r>
            <a:endParaRPr lang="en-US" sz="1700" dirty="0"/>
          </a:p>
        </p:txBody>
      </p:sp>
      <p:sp>
        <p:nvSpPr>
          <p:cNvPr id="23" name="Text 20"/>
          <p:cNvSpPr/>
          <p:nvPr/>
        </p:nvSpPr>
        <p:spPr>
          <a:xfrm>
            <a:off x="685800" y="4892040"/>
            <a:ext cx="6492240" cy="594360"/>
          </a:xfrm>
          <a:prstGeom prst="rect">
            <a:avLst/>
          </a:prstGeom>
          <a:noFill/>
        </p:spPr>
        <p:txBody>
          <a:bodyPr wrap="square" lIns="381" tIns="381" rIns="381" bIns="381" rtlCol="0" anchor="ctr">
            <a:normAutofit/>
          </a:bodyPr>
          <a:lstStyle/>
          <a:p>
            <a:pPr marL="0" indent="0">
              <a:buNone/>
            </a:pPr>
            <a:r>
              <a:rPr lang="en-US" sz="1700" dirty="0">
                <a:solidFill>
                  <a:srgbClr val="111111"/>
                </a:solidFill>
                <a:latin typeface="Arial" panose="020B0604020202020204" pitchFamily="34" charset="0"/>
                <a:ea typeface="Arial" panose="020B0604020202020204" pitchFamily="34" charset="-122"/>
                <a:cs typeface="Arial" panose="020B0604020202020204" pitchFamily="34" charset="-120"/>
              </a:rPr>
              <a:t>Commit dùng transaction: nếu lỗi nghiêm trọng thì rollback để tránh ghi dữ liệu một phần.</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20040"/>
            <a:ext cx="11201400" cy="384048"/>
          </a:xfrm>
          <a:prstGeom prst="rect">
            <a:avLst/>
          </a:prstGeom>
          <a:noFill/>
        </p:spPr>
        <p:txBody>
          <a:bodyPr wrap="square" lIns="0" tIns="0" rIns="0" bIns="0" rtlCol="0" anchor="ctr"/>
          <a:lstStyle/>
          <a:p>
            <a:pPr marL="0" indent="0">
              <a:buNone/>
            </a:pPr>
            <a:r>
              <a:rPr lang="en-US" sz="2300" b="1" dirty="0">
                <a:solidFill>
                  <a:srgbClr val="111111"/>
                </a:solidFill>
                <a:latin typeface="Arial" panose="020B0604020202020204" pitchFamily="34" charset="0"/>
                <a:ea typeface="Arial" panose="020B0604020202020204" pitchFamily="34" charset="-122"/>
                <a:cs typeface="Arial" panose="020B0604020202020204" pitchFamily="34" charset="-120"/>
              </a:rPr>
              <a:t>7. Cơ sở dữ liệu SQLite</a:t>
            </a:r>
            <a:endParaRPr lang="en-US" sz="2300" dirty="0"/>
          </a:p>
        </p:txBody>
      </p:sp>
      <p:sp>
        <p:nvSpPr>
          <p:cNvPr id="3" name="Shape 1"/>
          <p:cNvSpPr/>
          <p:nvPr/>
        </p:nvSpPr>
        <p:spPr>
          <a:xfrm>
            <a:off x="502920" y="804672"/>
            <a:ext cx="11201400" cy="0"/>
          </a:xfrm>
          <a:prstGeom prst="line">
            <a:avLst/>
          </a:prstGeom>
          <a:noFill/>
          <a:ln w="12700">
            <a:solidFill>
              <a:srgbClr val="D9D9D9"/>
            </a:solidFill>
            <a:prstDash val="solid"/>
          </a:ln>
        </p:spPr>
      </p:sp>
      <p:sp>
        <p:nvSpPr>
          <p:cNvPr id="4" name="Shape 2"/>
          <p:cNvSpPr/>
          <p:nvPr/>
        </p:nvSpPr>
        <p:spPr>
          <a:xfrm>
            <a:off x="594360" y="1051560"/>
            <a:ext cx="5394960" cy="601980"/>
          </a:xfrm>
          <a:prstGeom prst="rect">
            <a:avLst/>
          </a:prstGeom>
          <a:solidFill>
            <a:srgbClr val="F4F4F4"/>
          </a:solidFill>
          <a:ln w="10160">
            <a:solidFill>
              <a:srgbClr val="D9D9D9"/>
            </a:solidFill>
            <a:prstDash val="solid"/>
          </a:ln>
        </p:spPr>
      </p:sp>
      <p:sp>
        <p:nvSpPr>
          <p:cNvPr id="5" name="Shape 3"/>
          <p:cNvSpPr/>
          <p:nvPr/>
        </p:nvSpPr>
        <p:spPr>
          <a:xfrm>
            <a:off x="2644445" y="1051560"/>
            <a:ext cx="0" cy="601980"/>
          </a:xfrm>
          <a:prstGeom prst="line">
            <a:avLst/>
          </a:prstGeom>
          <a:noFill/>
          <a:ln w="10160">
            <a:solidFill>
              <a:srgbClr val="D9D9D9"/>
            </a:solidFill>
            <a:prstDash val="solid"/>
          </a:ln>
        </p:spPr>
      </p:sp>
      <p:sp>
        <p:nvSpPr>
          <p:cNvPr id="6" name="Text 4"/>
          <p:cNvSpPr/>
          <p:nvPr/>
        </p:nvSpPr>
        <p:spPr>
          <a:xfrm>
            <a:off x="667512" y="1097280"/>
            <a:ext cx="1903781" cy="510540"/>
          </a:xfrm>
          <a:prstGeom prst="rect">
            <a:avLst/>
          </a:prstGeom>
          <a:noFill/>
        </p:spPr>
        <p:txBody>
          <a:bodyPr wrap="square" lIns="508" tIns="508" rIns="508" bIns="508" rtlCol="0" anchor="ctr">
            <a:normAutofit/>
          </a:bodyPr>
          <a:lstStyle/>
          <a:p>
            <a:pPr marL="0" indent="0">
              <a:buNone/>
            </a:pPr>
            <a:r>
              <a:rPr lang="en-US" sz="1700" b="1" dirty="0">
                <a:solidFill>
                  <a:srgbClr val="111111"/>
                </a:solidFill>
                <a:latin typeface="Arial" panose="020B0604020202020204" pitchFamily="34" charset="0"/>
                <a:ea typeface="Arial" panose="020B0604020202020204" pitchFamily="34" charset="-122"/>
                <a:cs typeface="Arial" panose="020B0604020202020204" pitchFamily="34" charset="-120"/>
              </a:rPr>
              <a:t>Bảng</a:t>
            </a:r>
            <a:endParaRPr lang="en-US" sz="1700" dirty="0"/>
          </a:p>
        </p:txBody>
      </p:sp>
      <p:sp>
        <p:nvSpPr>
          <p:cNvPr id="7" name="Text 5"/>
          <p:cNvSpPr/>
          <p:nvPr/>
        </p:nvSpPr>
        <p:spPr>
          <a:xfrm>
            <a:off x="2717597" y="1097280"/>
            <a:ext cx="3198571" cy="510540"/>
          </a:xfrm>
          <a:prstGeom prst="rect">
            <a:avLst/>
          </a:prstGeom>
          <a:noFill/>
        </p:spPr>
        <p:txBody>
          <a:bodyPr wrap="square" lIns="508" tIns="508" rIns="508" bIns="508" rtlCol="0" anchor="ctr">
            <a:normAutofit/>
          </a:bodyPr>
          <a:lstStyle/>
          <a:p>
            <a:pPr marL="0" indent="0">
              <a:buNone/>
            </a:pPr>
            <a:r>
              <a:rPr lang="en-US" sz="1700" b="1" dirty="0">
                <a:solidFill>
                  <a:srgbClr val="111111"/>
                </a:solidFill>
                <a:latin typeface="Arial" panose="020B0604020202020204" pitchFamily="34" charset="0"/>
                <a:ea typeface="Arial" panose="020B0604020202020204" pitchFamily="34" charset="-122"/>
                <a:cs typeface="Arial" panose="020B0604020202020204" pitchFamily="34" charset="-120"/>
              </a:rPr>
              <a:t>Nội dung chính</a:t>
            </a:r>
            <a:endParaRPr lang="en-US" sz="1700" dirty="0"/>
          </a:p>
        </p:txBody>
      </p:sp>
      <p:sp>
        <p:nvSpPr>
          <p:cNvPr id="8" name="Shape 6"/>
          <p:cNvSpPr/>
          <p:nvPr/>
        </p:nvSpPr>
        <p:spPr>
          <a:xfrm>
            <a:off x="594360" y="1653540"/>
            <a:ext cx="5394960" cy="601980"/>
          </a:xfrm>
          <a:prstGeom prst="rect">
            <a:avLst/>
          </a:prstGeom>
          <a:solidFill>
            <a:srgbClr val="FFFFFF"/>
          </a:solidFill>
          <a:ln w="10160">
            <a:solidFill>
              <a:srgbClr val="D9D9D9"/>
            </a:solidFill>
            <a:prstDash val="solid"/>
          </a:ln>
        </p:spPr>
      </p:sp>
      <p:sp>
        <p:nvSpPr>
          <p:cNvPr id="9" name="Shape 7"/>
          <p:cNvSpPr/>
          <p:nvPr/>
        </p:nvSpPr>
        <p:spPr>
          <a:xfrm>
            <a:off x="2644445" y="1653540"/>
            <a:ext cx="0" cy="601980"/>
          </a:xfrm>
          <a:prstGeom prst="line">
            <a:avLst/>
          </a:prstGeom>
          <a:noFill/>
          <a:ln w="10160">
            <a:solidFill>
              <a:srgbClr val="D9D9D9"/>
            </a:solidFill>
            <a:prstDash val="solid"/>
          </a:ln>
        </p:spPr>
      </p:sp>
      <p:sp>
        <p:nvSpPr>
          <p:cNvPr id="10" name="Text 8"/>
          <p:cNvSpPr/>
          <p:nvPr/>
        </p:nvSpPr>
        <p:spPr>
          <a:xfrm>
            <a:off x="667512" y="1699260"/>
            <a:ext cx="1903781" cy="510540"/>
          </a:xfrm>
          <a:prstGeom prst="rect">
            <a:avLst/>
          </a:prstGeom>
          <a:noFill/>
        </p:spPr>
        <p:txBody>
          <a:bodyPr wrap="square" lIns="508" tIns="508" rIns="508" bIns="508" rtlCol="0" anchor="ctr">
            <a:normAutofit/>
          </a:bodyPr>
          <a:lstStyle/>
          <a:p>
            <a:pPr marL="0" indent="0">
              <a:buNone/>
            </a:pPr>
            <a:r>
              <a:rPr lang="en-US" sz="1700" dirty="0">
                <a:solidFill>
                  <a:srgbClr val="111111"/>
                </a:solidFill>
                <a:latin typeface="Arial" panose="020B0604020202020204" pitchFamily="34" charset="0"/>
                <a:ea typeface="Arial" panose="020B0604020202020204" pitchFamily="34" charset="-122"/>
                <a:cs typeface="Arial" panose="020B0604020202020204" pitchFamily="34" charset="-120"/>
              </a:rPr>
              <a:t>nhan_vien</a:t>
            </a:r>
            <a:endParaRPr lang="en-US" sz="1700" dirty="0"/>
          </a:p>
        </p:txBody>
      </p:sp>
      <p:sp>
        <p:nvSpPr>
          <p:cNvPr id="11" name="Text 9"/>
          <p:cNvSpPr/>
          <p:nvPr/>
        </p:nvSpPr>
        <p:spPr>
          <a:xfrm>
            <a:off x="2717597" y="1699260"/>
            <a:ext cx="3198571" cy="510540"/>
          </a:xfrm>
          <a:prstGeom prst="rect">
            <a:avLst/>
          </a:prstGeom>
          <a:noFill/>
        </p:spPr>
        <p:txBody>
          <a:bodyPr wrap="square" lIns="508" tIns="508" rIns="508" bIns="508" rtlCol="0" anchor="ctr">
            <a:normAutofit/>
          </a:bodyPr>
          <a:lstStyle/>
          <a:p>
            <a:pPr marL="0" indent="0">
              <a:buNone/>
            </a:pPr>
            <a:r>
              <a:rPr lang="en-US" sz="1700" dirty="0">
                <a:solidFill>
                  <a:srgbClr val="111111"/>
                </a:solidFill>
                <a:latin typeface="Arial" panose="020B0604020202020204" pitchFamily="34" charset="0"/>
                <a:ea typeface="Arial" panose="020B0604020202020204" pitchFamily="34" charset="-122"/>
                <a:cs typeface="Arial" panose="020B0604020202020204" pitchFamily="34" charset="-120"/>
              </a:rPr>
              <a:t>Hồ sơ nhân viên, không lưu YES/NO</a:t>
            </a:r>
            <a:endParaRPr lang="en-US" sz="1700" dirty="0"/>
          </a:p>
        </p:txBody>
      </p:sp>
      <p:sp>
        <p:nvSpPr>
          <p:cNvPr id="12" name="Shape 10"/>
          <p:cNvSpPr/>
          <p:nvPr/>
        </p:nvSpPr>
        <p:spPr>
          <a:xfrm>
            <a:off x="594360" y="2255520"/>
            <a:ext cx="5394960" cy="601980"/>
          </a:xfrm>
          <a:prstGeom prst="rect">
            <a:avLst/>
          </a:prstGeom>
          <a:solidFill>
            <a:srgbClr val="FFFFFF"/>
          </a:solidFill>
          <a:ln w="10160">
            <a:solidFill>
              <a:srgbClr val="D9D9D9"/>
            </a:solidFill>
            <a:prstDash val="solid"/>
          </a:ln>
        </p:spPr>
      </p:sp>
      <p:sp>
        <p:nvSpPr>
          <p:cNvPr id="13" name="Shape 11"/>
          <p:cNvSpPr/>
          <p:nvPr/>
        </p:nvSpPr>
        <p:spPr>
          <a:xfrm>
            <a:off x="2644445" y="2255520"/>
            <a:ext cx="0" cy="601980"/>
          </a:xfrm>
          <a:prstGeom prst="line">
            <a:avLst/>
          </a:prstGeom>
          <a:noFill/>
          <a:ln w="10160">
            <a:solidFill>
              <a:srgbClr val="D9D9D9"/>
            </a:solidFill>
            <a:prstDash val="solid"/>
          </a:ln>
        </p:spPr>
      </p:sp>
      <p:sp>
        <p:nvSpPr>
          <p:cNvPr id="14" name="Text 12"/>
          <p:cNvSpPr/>
          <p:nvPr/>
        </p:nvSpPr>
        <p:spPr>
          <a:xfrm>
            <a:off x="667512" y="2301240"/>
            <a:ext cx="1903781" cy="510540"/>
          </a:xfrm>
          <a:prstGeom prst="rect">
            <a:avLst/>
          </a:prstGeom>
          <a:noFill/>
        </p:spPr>
        <p:txBody>
          <a:bodyPr wrap="square" lIns="508" tIns="508" rIns="508" bIns="508" rtlCol="0" anchor="ctr">
            <a:normAutofit/>
          </a:bodyPr>
          <a:lstStyle/>
          <a:p>
            <a:pPr marL="0" indent="0">
              <a:buNone/>
            </a:pPr>
            <a:r>
              <a:rPr lang="en-US" sz="1700" dirty="0">
                <a:solidFill>
                  <a:srgbClr val="111111"/>
                </a:solidFill>
                <a:latin typeface="Arial" panose="020B0604020202020204" pitchFamily="34" charset="0"/>
                <a:ea typeface="Arial" panose="020B0604020202020204" pitchFamily="34" charset="-122"/>
                <a:cs typeface="Arial" panose="020B0604020202020204" pitchFamily="34" charset="-120"/>
              </a:rPr>
              <a:t>don_vi</a:t>
            </a:r>
            <a:endParaRPr lang="en-US" sz="1700" dirty="0"/>
          </a:p>
        </p:txBody>
      </p:sp>
      <p:sp>
        <p:nvSpPr>
          <p:cNvPr id="15" name="Text 13"/>
          <p:cNvSpPr/>
          <p:nvPr/>
        </p:nvSpPr>
        <p:spPr>
          <a:xfrm>
            <a:off x="2717597" y="2301240"/>
            <a:ext cx="3198571" cy="510540"/>
          </a:xfrm>
          <a:prstGeom prst="rect">
            <a:avLst/>
          </a:prstGeom>
          <a:noFill/>
        </p:spPr>
        <p:txBody>
          <a:bodyPr wrap="square" lIns="508" tIns="508" rIns="508" bIns="508" rtlCol="0" anchor="ctr">
            <a:normAutofit/>
          </a:bodyPr>
          <a:lstStyle/>
          <a:p>
            <a:pPr marL="0" indent="0">
              <a:buNone/>
            </a:pPr>
            <a:r>
              <a:rPr lang="en-US" sz="1700" dirty="0">
                <a:solidFill>
                  <a:srgbClr val="111111"/>
                </a:solidFill>
                <a:latin typeface="Arial" panose="020B0604020202020204" pitchFamily="34" charset="0"/>
                <a:ea typeface="Arial" panose="020B0604020202020204" pitchFamily="34" charset="-122"/>
                <a:cs typeface="Arial" panose="020B0604020202020204" pitchFamily="34" charset="-120"/>
              </a:rPr>
              <a:t>Tên đơn vị, mã đơn vị, loại đơn vị</a:t>
            </a:r>
            <a:endParaRPr lang="en-US" sz="1700" dirty="0"/>
          </a:p>
        </p:txBody>
      </p:sp>
      <p:sp>
        <p:nvSpPr>
          <p:cNvPr id="16" name="Shape 14"/>
          <p:cNvSpPr/>
          <p:nvPr/>
        </p:nvSpPr>
        <p:spPr>
          <a:xfrm>
            <a:off x="594360" y="2857500"/>
            <a:ext cx="5394960" cy="601980"/>
          </a:xfrm>
          <a:prstGeom prst="rect">
            <a:avLst/>
          </a:prstGeom>
          <a:solidFill>
            <a:srgbClr val="FFFFFF"/>
          </a:solidFill>
          <a:ln w="10160">
            <a:solidFill>
              <a:srgbClr val="D9D9D9"/>
            </a:solidFill>
            <a:prstDash val="solid"/>
          </a:ln>
        </p:spPr>
      </p:sp>
      <p:sp>
        <p:nvSpPr>
          <p:cNvPr id="17" name="Shape 15"/>
          <p:cNvSpPr/>
          <p:nvPr/>
        </p:nvSpPr>
        <p:spPr>
          <a:xfrm>
            <a:off x="2644445" y="2857500"/>
            <a:ext cx="0" cy="601980"/>
          </a:xfrm>
          <a:prstGeom prst="line">
            <a:avLst/>
          </a:prstGeom>
          <a:noFill/>
          <a:ln w="10160">
            <a:solidFill>
              <a:srgbClr val="D9D9D9"/>
            </a:solidFill>
            <a:prstDash val="solid"/>
          </a:ln>
        </p:spPr>
      </p:sp>
      <p:sp>
        <p:nvSpPr>
          <p:cNvPr id="18" name="Text 16"/>
          <p:cNvSpPr/>
          <p:nvPr/>
        </p:nvSpPr>
        <p:spPr>
          <a:xfrm>
            <a:off x="667512" y="2903220"/>
            <a:ext cx="1903781" cy="510540"/>
          </a:xfrm>
          <a:prstGeom prst="rect">
            <a:avLst/>
          </a:prstGeom>
          <a:noFill/>
        </p:spPr>
        <p:txBody>
          <a:bodyPr wrap="square" lIns="508" tIns="508" rIns="508" bIns="508" rtlCol="0" anchor="ctr">
            <a:normAutofit/>
          </a:bodyPr>
          <a:lstStyle/>
          <a:p>
            <a:pPr marL="0" indent="0">
              <a:buNone/>
            </a:pPr>
            <a:r>
              <a:rPr lang="en-US" sz="1700" dirty="0">
                <a:solidFill>
                  <a:srgbClr val="111111"/>
                </a:solidFill>
                <a:latin typeface="Arial" panose="020B0604020202020204" pitchFamily="34" charset="0"/>
                <a:ea typeface="Arial" panose="020B0604020202020204" pitchFamily="34" charset="-122"/>
                <a:cs typeface="Arial" panose="020B0604020202020204" pitchFamily="34" charset="-120"/>
              </a:rPr>
              <a:t>business_rule</a:t>
            </a:r>
            <a:endParaRPr lang="en-US" sz="1700" dirty="0"/>
          </a:p>
        </p:txBody>
      </p:sp>
      <p:sp>
        <p:nvSpPr>
          <p:cNvPr id="19" name="Text 17"/>
          <p:cNvSpPr/>
          <p:nvPr/>
        </p:nvSpPr>
        <p:spPr>
          <a:xfrm>
            <a:off x="2717597" y="2903220"/>
            <a:ext cx="3198571" cy="510540"/>
          </a:xfrm>
          <a:prstGeom prst="rect">
            <a:avLst/>
          </a:prstGeom>
          <a:noFill/>
        </p:spPr>
        <p:txBody>
          <a:bodyPr wrap="square" lIns="508" tIns="508" rIns="508" bIns="508" rtlCol="0" anchor="ctr">
            <a:normAutofit/>
          </a:bodyPr>
          <a:lstStyle/>
          <a:p>
            <a:pPr marL="0" indent="0">
              <a:buNone/>
            </a:pPr>
            <a:r>
              <a:rPr lang="en-US" sz="1700" dirty="0">
                <a:solidFill>
                  <a:srgbClr val="111111"/>
                </a:solidFill>
                <a:latin typeface="Arial" panose="020B0604020202020204" pitchFamily="34" charset="0"/>
                <a:ea typeface="Arial" panose="020B0604020202020204" pitchFamily="34" charset="-122"/>
                <a:cs typeface="Arial" panose="020B0604020202020204" pitchFamily="34" charset="-120"/>
              </a:rPr>
              <a:t>Quy tắc YES/NO, căn cứ, hiệu lực</a:t>
            </a:r>
            <a:endParaRPr lang="en-US" sz="1700" dirty="0"/>
          </a:p>
        </p:txBody>
      </p:sp>
      <p:sp>
        <p:nvSpPr>
          <p:cNvPr id="20" name="Shape 18"/>
          <p:cNvSpPr/>
          <p:nvPr/>
        </p:nvSpPr>
        <p:spPr>
          <a:xfrm>
            <a:off x="594360" y="3459480"/>
            <a:ext cx="5394960" cy="601980"/>
          </a:xfrm>
          <a:prstGeom prst="rect">
            <a:avLst/>
          </a:prstGeom>
          <a:solidFill>
            <a:srgbClr val="FFFFFF"/>
          </a:solidFill>
          <a:ln w="10160">
            <a:solidFill>
              <a:srgbClr val="D9D9D9"/>
            </a:solidFill>
            <a:prstDash val="solid"/>
          </a:ln>
        </p:spPr>
      </p:sp>
      <p:sp>
        <p:nvSpPr>
          <p:cNvPr id="21" name="Shape 19"/>
          <p:cNvSpPr/>
          <p:nvPr/>
        </p:nvSpPr>
        <p:spPr>
          <a:xfrm>
            <a:off x="2644445" y="3459480"/>
            <a:ext cx="0" cy="601980"/>
          </a:xfrm>
          <a:prstGeom prst="line">
            <a:avLst/>
          </a:prstGeom>
          <a:noFill/>
          <a:ln w="10160">
            <a:solidFill>
              <a:srgbClr val="D9D9D9"/>
            </a:solidFill>
            <a:prstDash val="solid"/>
          </a:ln>
        </p:spPr>
      </p:sp>
      <p:sp>
        <p:nvSpPr>
          <p:cNvPr id="22" name="Text 20"/>
          <p:cNvSpPr/>
          <p:nvPr/>
        </p:nvSpPr>
        <p:spPr>
          <a:xfrm>
            <a:off x="667512" y="3505200"/>
            <a:ext cx="1903781" cy="510540"/>
          </a:xfrm>
          <a:prstGeom prst="rect">
            <a:avLst/>
          </a:prstGeom>
          <a:noFill/>
        </p:spPr>
        <p:txBody>
          <a:bodyPr wrap="square" lIns="508" tIns="508" rIns="508" bIns="508" rtlCol="0" anchor="ctr">
            <a:normAutofit/>
          </a:bodyPr>
          <a:lstStyle/>
          <a:p>
            <a:pPr marL="0" indent="0">
              <a:buNone/>
            </a:pPr>
            <a:r>
              <a:rPr lang="en-US" sz="1700" dirty="0">
                <a:solidFill>
                  <a:srgbClr val="111111"/>
                </a:solidFill>
                <a:latin typeface="Arial" panose="020B0604020202020204" pitchFamily="34" charset="0"/>
                <a:ea typeface="Arial" panose="020B0604020202020204" pitchFamily="34" charset="-122"/>
                <a:cs typeface="Arial" panose="020B0604020202020204" pitchFamily="34" charset="-120"/>
              </a:rPr>
              <a:t>ngoai_le_ca_nhan</a:t>
            </a:r>
            <a:endParaRPr lang="en-US" sz="1700" dirty="0"/>
          </a:p>
        </p:txBody>
      </p:sp>
      <p:sp>
        <p:nvSpPr>
          <p:cNvPr id="23" name="Text 21"/>
          <p:cNvSpPr/>
          <p:nvPr/>
        </p:nvSpPr>
        <p:spPr>
          <a:xfrm>
            <a:off x="2717597" y="3505200"/>
            <a:ext cx="3198571" cy="510540"/>
          </a:xfrm>
          <a:prstGeom prst="rect">
            <a:avLst/>
          </a:prstGeom>
          <a:noFill/>
        </p:spPr>
        <p:txBody>
          <a:bodyPr wrap="square" lIns="508" tIns="508" rIns="508" bIns="508" rtlCol="0" anchor="ctr">
            <a:normAutofit/>
          </a:bodyPr>
          <a:lstStyle/>
          <a:p>
            <a:pPr marL="0" indent="0">
              <a:buNone/>
            </a:pPr>
            <a:r>
              <a:rPr lang="en-US" sz="1700" dirty="0">
                <a:solidFill>
                  <a:srgbClr val="111111"/>
                </a:solidFill>
                <a:latin typeface="Arial" panose="020B0604020202020204" pitchFamily="34" charset="0"/>
                <a:ea typeface="Arial" panose="020B0604020202020204" pitchFamily="34" charset="-122"/>
                <a:cs typeface="Arial" panose="020B0604020202020204" pitchFamily="34" charset="-120"/>
              </a:rPr>
              <a:t>Kết quả riêng cho một nhân viên</a:t>
            </a:r>
            <a:endParaRPr lang="en-US" sz="1700" dirty="0"/>
          </a:p>
        </p:txBody>
      </p:sp>
      <p:sp>
        <p:nvSpPr>
          <p:cNvPr id="24" name="Shape 22"/>
          <p:cNvSpPr/>
          <p:nvPr/>
        </p:nvSpPr>
        <p:spPr>
          <a:xfrm>
            <a:off x="594360" y="4061460"/>
            <a:ext cx="5394960" cy="601980"/>
          </a:xfrm>
          <a:prstGeom prst="rect">
            <a:avLst/>
          </a:prstGeom>
          <a:solidFill>
            <a:srgbClr val="FFFFFF"/>
          </a:solidFill>
          <a:ln w="10160">
            <a:solidFill>
              <a:srgbClr val="D9D9D9"/>
            </a:solidFill>
            <a:prstDash val="solid"/>
          </a:ln>
        </p:spPr>
      </p:sp>
      <p:sp>
        <p:nvSpPr>
          <p:cNvPr id="25" name="Shape 23"/>
          <p:cNvSpPr/>
          <p:nvPr/>
        </p:nvSpPr>
        <p:spPr>
          <a:xfrm>
            <a:off x="2644445" y="4061460"/>
            <a:ext cx="0" cy="601980"/>
          </a:xfrm>
          <a:prstGeom prst="line">
            <a:avLst/>
          </a:prstGeom>
          <a:noFill/>
          <a:ln w="10160">
            <a:solidFill>
              <a:srgbClr val="D9D9D9"/>
            </a:solidFill>
            <a:prstDash val="solid"/>
          </a:ln>
        </p:spPr>
      </p:sp>
      <p:sp>
        <p:nvSpPr>
          <p:cNvPr id="26" name="Text 24"/>
          <p:cNvSpPr/>
          <p:nvPr/>
        </p:nvSpPr>
        <p:spPr>
          <a:xfrm>
            <a:off x="667512" y="4107180"/>
            <a:ext cx="1903781" cy="510540"/>
          </a:xfrm>
          <a:prstGeom prst="rect">
            <a:avLst/>
          </a:prstGeom>
          <a:noFill/>
        </p:spPr>
        <p:txBody>
          <a:bodyPr wrap="square" lIns="508" tIns="508" rIns="508" bIns="508" rtlCol="0" anchor="ctr">
            <a:normAutofit/>
          </a:bodyPr>
          <a:lstStyle/>
          <a:p>
            <a:pPr marL="0" indent="0">
              <a:buNone/>
            </a:pPr>
            <a:r>
              <a:rPr lang="en-US" sz="1700" dirty="0">
                <a:solidFill>
                  <a:srgbClr val="111111"/>
                </a:solidFill>
                <a:latin typeface="Arial" panose="020B0604020202020204" pitchFamily="34" charset="0"/>
                <a:ea typeface="Arial" panose="020B0604020202020204" pitchFamily="34" charset="-122"/>
                <a:cs typeface="Arial" panose="020B0604020202020204" pitchFamily="34" charset="-120"/>
              </a:rPr>
              <a:t>users / auth_sessions</a:t>
            </a:r>
            <a:endParaRPr lang="en-US" sz="1700" dirty="0"/>
          </a:p>
        </p:txBody>
      </p:sp>
      <p:sp>
        <p:nvSpPr>
          <p:cNvPr id="27" name="Text 25"/>
          <p:cNvSpPr/>
          <p:nvPr/>
        </p:nvSpPr>
        <p:spPr>
          <a:xfrm>
            <a:off x="2717597" y="4107180"/>
            <a:ext cx="3198571" cy="510540"/>
          </a:xfrm>
          <a:prstGeom prst="rect">
            <a:avLst/>
          </a:prstGeom>
          <a:noFill/>
        </p:spPr>
        <p:txBody>
          <a:bodyPr wrap="square" lIns="508" tIns="508" rIns="508" bIns="508" rtlCol="0" anchor="ctr">
            <a:normAutofit/>
          </a:bodyPr>
          <a:lstStyle/>
          <a:p>
            <a:pPr marL="0" indent="0">
              <a:buNone/>
            </a:pPr>
            <a:r>
              <a:rPr lang="en-US" sz="1700" dirty="0">
                <a:solidFill>
                  <a:srgbClr val="111111"/>
                </a:solidFill>
                <a:latin typeface="Arial" panose="020B0604020202020204" pitchFamily="34" charset="0"/>
                <a:ea typeface="Arial" panose="020B0604020202020204" pitchFamily="34" charset="-122"/>
                <a:cs typeface="Arial" panose="020B0604020202020204" pitchFamily="34" charset="-120"/>
              </a:rPr>
              <a:t>Tài khoản và phiên đăng nhập</a:t>
            </a:r>
            <a:endParaRPr lang="en-US" sz="1700" dirty="0"/>
          </a:p>
        </p:txBody>
      </p:sp>
      <p:sp>
        <p:nvSpPr>
          <p:cNvPr id="28" name="Shape 26"/>
          <p:cNvSpPr/>
          <p:nvPr/>
        </p:nvSpPr>
        <p:spPr>
          <a:xfrm>
            <a:off x="6309360" y="1051560"/>
            <a:ext cx="5257800" cy="3611880"/>
          </a:xfrm>
          <a:prstGeom prst="rect">
            <a:avLst/>
          </a:prstGeom>
          <a:solidFill>
            <a:srgbClr val="FFFFFF">
              <a:alpha val="0"/>
            </a:srgbClr>
          </a:solidFill>
          <a:ln w="12700">
            <a:solidFill>
              <a:srgbClr val="D9D9D9"/>
            </a:solidFill>
            <a:prstDash val="solid"/>
          </a:ln>
        </p:spPr>
      </p:sp>
      <p:pic>
        <p:nvPicPr>
          <p:cNvPr id="29" name="Image 0" descr="/mnt/data/ppt_assets/database.png"/>
          <p:cNvPicPr>
            <a:picLocks noChangeAspect="1"/>
          </p:cNvPicPr>
          <p:nvPr/>
        </p:nvPicPr>
        <p:blipFill>
          <a:blip r:embed="rId1"/>
          <a:srcRect l="15124" r="15124"/>
          <a:stretch>
            <a:fillRect/>
          </a:stretch>
        </p:blipFill>
        <p:spPr>
          <a:xfrm>
            <a:off x="6309360" y="1051560"/>
            <a:ext cx="5257800" cy="3611880"/>
          </a:xfrm>
          <a:prstGeom prst="rect">
            <a:avLst/>
          </a:prstGeom>
        </p:spPr>
      </p:pic>
      <p:sp>
        <p:nvSpPr>
          <p:cNvPr id="30" name="Text 27"/>
          <p:cNvSpPr/>
          <p:nvPr/>
        </p:nvSpPr>
        <p:spPr>
          <a:xfrm>
            <a:off x="685800" y="5074920"/>
            <a:ext cx="10789920" cy="594360"/>
          </a:xfrm>
          <a:prstGeom prst="rect">
            <a:avLst/>
          </a:prstGeom>
          <a:noFill/>
        </p:spPr>
        <p:txBody>
          <a:bodyPr wrap="square" lIns="381" tIns="381" rIns="381" bIns="381" rtlCol="0" anchor="ctr">
            <a:normAutofit/>
          </a:bodyPr>
          <a:lstStyle/>
          <a:p>
            <a:pPr marL="0" indent="0">
              <a:buNone/>
            </a:pPr>
            <a:r>
              <a:rPr lang="en-US" sz="1700" dirty="0">
                <a:solidFill>
                  <a:srgbClr val="111111"/>
                </a:solidFill>
                <a:latin typeface="Arial" panose="020B0604020202020204" pitchFamily="34" charset="0"/>
                <a:ea typeface="Arial" panose="020B0604020202020204" pitchFamily="34" charset="-122"/>
                <a:cs typeface="Arial" panose="020B0604020202020204" pitchFamily="34" charset="-120"/>
              </a:rPr>
              <a:t>CHUA_XAC_DINH không lưu thành rule. Đây là kết quả do Rule Engine sinh ra khi không có quy tắc phù hợp.</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20040"/>
            <a:ext cx="11201400" cy="384048"/>
          </a:xfrm>
          <a:prstGeom prst="rect">
            <a:avLst/>
          </a:prstGeom>
          <a:noFill/>
        </p:spPr>
        <p:txBody>
          <a:bodyPr wrap="square" lIns="0" tIns="0" rIns="0" bIns="0" rtlCol="0" anchor="ctr"/>
          <a:lstStyle/>
          <a:p>
            <a:pPr marL="0" indent="0">
              <a:buNone/>
            </a:pPr>
            <a:r>
              <a:rPr lang="en-US" sz="2300" b="1" dirty="0">
                <a:solidFill>
                  <a:srgbClr val="111111"/>
                </a:solidFill>
                <a:latin typeface="Arial" panose="020B0604020202020204" pitchFamily="34" charset="0"/>
                <a:ea typeface="Arial" panose="020B0604020202020204" pitchFamily="34" charset="-122"/>
                <a:cs typeface="Arial" panose="020B0604020202020204" pitchFamily="34" charset="-120"/>
              </a:rPr>
              <a:t>8. Search Engine</a:t>
            </a:r>
            <a:endParaRPr lang="en-US" sz="2300" dirty="0"/>
          </a:p>
        </p:txBody>
      </p:sp>
      <p:sp>
        <p:nvSpPr>
          <p:cNvPr id="3" name="Shape 1"/>
          <p:cNvSpPr/>
          <p:nvPr/>
        </p:nvSpPr>
        <p:spPr>
          <a:xfrm>
            <a:off x="502920" y="804672"/>
            <a:ext cx="11201400" cy="0"/>
          </a:xfrm>
          <a:prstGeom prst="line">
            <a:avLst/>
          </a:prstGeom>
          <a:noFill/>
          <a:ln w="12700">
            <a:solidFill>
              <a:srgbClr val="D9D9D9"/>
            </a:solidFill>
            <a:prstDash val="solid"/>
          </a:ln>
        </p:spPr>
      </p:sp>
      <p:sp>
        <p:nvSpPr>
          <p:cNvPr id="4" name="Text 2"/>
          <p:cNvSpPr/>
          <p:nvPr/>
        </p:nvSpPr>
        <p:spPr>
          <a:xfrm>
            <a:off x="685800" y="1024128"/>
            <a:ext cx="10972800" cy="411480"/>
          </a:xfrm>
          <a:prstGeom prst="rect">
            <a:avLst/>
          </a:prstGeom>
          <a:noFill/>
        </p:spPr>
        <p:txBody>
          <a:bodyPr wrap="square" lIns="381" tIns="381" rIns="381" bIns="381" rtlCol="0" anchor="ctr">
            <a:normAutofit/>
          </a:bodyPr>
          <a:lstStyle/>
          <a:p>
            <a:pPr marL="0" indent="0">
              <a:buNone/>
            </a:pPr>
            <a:r>
              <a:rPr lang="en-US" sz="1800" b="1" dirty="0">
                <a:solidFill>
                  <a:srgbClr val="111111"/>
                </a:solidFill>
                <a:latin typeface="Arial" panose="020B0604020202020204" pitchFamily="34" charset="0"/>
                <a:ea typeface="Arial" panose="020B0604020202020204" pitchFamily="34" charset="-122"/>
                <a:cs typeface="Arial" panose="020B0604020202020204" pitchFamily="34" charset="-120"/>
              </a:rPr>
              <a:t>Search Engine trả lời câu hỏi: người dùng đang muốn tìm nhân viên hoặc đơn vị nào?</a:t>
            </a:r>
            <a:endParaRPr lang="en-US" sz="1800" dirty="0"/>
          </a:p>
        </p:txBody>
      </p:sp>
      <p:sp>
        <p:nvSpPr>
          <p:cNvPr id="5" name="Shape 3"/>
          <p:cNvSpPr/>
          <p:nvPr/>
        </p:nvSpPr>
        <p:spPr>
          <a:xfrm>
            <a:off x="914400" y="2057400"/>
            <a:ext cx="1143000" cy="594360"/>
          </a:xfrm>
          <a:prstGeom prst="rect">
            <a:avLst/>
          </a:prstGeom>
          <a:solidFill>
            <a:srgbClr val="FFFFFF"/>
          </a:solidFill>
          <a:ln w="10160">
            <a:solidFill>
              <a:srgbClr val="111111"/>
            </a:solidFill>
            <a:prstDash val="solid"/>
          </a:ln>
        </p:spPr>
      </p:sp>
      <p:sp>
        <p:nvSpPr>
          <p:cNvPr id="6" name="Text 4"/>
          <p:cNvSpPr/>
          <p:nvPr/>
        </p:nvSpPr>
        <p:spPr>
          <a:xfrm>
            <a:off x="987552" y="2103120"/>
            <a:ext cx="996696" cy="502920"/>
          </a:xfrm>
          <a:prstGeom prst="rect">
            <a:avLst/>
          </a:prstGeom>
          <a:noFill/>
        </p:spPr>
        <p:txBody>
          <a:bodyPr wrap="square" lIns="254" tIns="254" rIns="254" bIns="254" rtlCol="0" anchor="ctr">
            <a:normAutofit/>
          </a:bodyPr>
          <a:lstStyle/>
          <a:p>
            <a:pPr marL="0" indent="0" algn="ctr">
              <a:buNone/>
            </a:pPr>
            <a:r>
              <a:rPr lang="en-US" sz="1800" b="1" dirty="0">
                <a:solidFill>
                  <a:srgbClr val="111111"/>
                </a:solidFill>
                <a:latin typeface="Arial" panose="020B0604020202020204" pitchFamily="34" charset="0"/>
                <a:ea typeface="Arial" panose="020B0604020202020204" pitchFamily="34" charset="-122"/>
                <a:cs typeface="Arial" panose="020B0604020202020204" pitchFamily="34" charset="-120"/>
              </a:rPr>
              <a:t>EXACT</a:t>
            </a:r>
            <a:endParaRPr lang="en-US" sz="1800" dirty="0"/>
          </a:p>
        </p:txBody>
      </p:sp>
      <p:sp>
        <p:nvSpPr>
          <p:cNvPr id="7" name="Shape 5"/>
          <p:cNvSpPr/>
          <p:nvPr/>
        </p:nvSpPr>
        <p:spPr>
          <a:xfrm>
            <a:off x="2743200" y="2057400"/>
            <a:ext cx="1143000" cy="594360"/>
          </a:xfrm>
          <a:prstGeom prst="rect">
            <a:avLst/>
          </a:prstGeom>
          <a:solidFill>
            <a:srgbClr val="FFFFFF"/>
          </a:solidFill>
          <a:ln w="10160">
            <a:solidFill>
              <a:srgbClr val="111111"/>
            </a:solidFill>
            <a:prstDash val="solid"/>
          </a:ln>
        </p:spPr>
      </p:sp>
      <p:sp>
        <p:nvSpPr>
          <p:cNvPr id="8" name="Text 6"/>
          <p:cNvSpPr/>
          <p:nvPr/>
        </p:nvSpPr>
        <p:spPr>
          <a:xfrm>
            <a:off x="2816352" y="2103120"/>
            <a:ext cx="996696" cy="502920"/>
          </a:xfrm>
          <a:prstGeom prst="rect">
            <a:avLst/>
          </a:prstGeom>
          <a:noFill/>
        </p:spPr>
        <p:txBody>
          <a:bodyPr wrap="square" lIns="254" tIns="254" rIns="254" bIns="254" rtlCol="0" anchor="ctr">
            <a:normAutofit/>
          </a:bodyPr>
          <a:lstStyle/>
          <a:p>
            <a:pPr marL="0" indent="0" algn="ctr">
              <a:buNone/>
            </a:pPr>
            <a:r>
              <a:rPr lang="en-US" sz="1800" b="1" dirty="0">
                <a:solidFill>
                  <a:srgbClr val="111111"/>
                </a:solidFill>
                <a:latin typeface="Arial" panose="020B0604020202020204" pitchFamily="34" charset="0"/>
                <a:ea typeface="Arial" panose="020B0604020202020204" pitchFamily="34" charset="-122"/>
                <a:cs typeface="Arial" panose="020B0604020202020204" pitchFamily="34" charset="-120"/>
              </a:rPr>
              <a:t>TOKEN</a:t>
            </a:r>
            <a:endParaRPr lang="en-US" sz="1800" dirty="0"/>
          </a:p>
        </p:txBody>
      </p:sp>
      <p:sp>
        <p:nvSpPr>
          <p:cNvPr id="9" name="Shape 7"/>
          <p:cNvSpPr/>
          <p:nvPr/>
        </p:nvSpPr>
        <p:spPr>
          <a:xfrm>
            <a:off x="4572000" y="2057400"/>
            <a:ext cx="1143000" cy="594360"/>
          </a:xfrm>
          <a:prstGeom prst="rect">
            <a:avLst/>
          </a:prstGeom>
          <a:solidFill>
            <a:srgbClr val="FFFFFF"/>
          </a:solidFill>
          <a:ln w="10160">
            <a:solidFill>
              <a:srgbClr val="111111"/>
            </a:solidFill>
            <a:prstDash val="solid"/>
          </a:ln>
        </p:spPr>
      </p:sp>
      <p:sp>
        <p:nvSpPr>
          <p:cNvPr id="10" name="Text 8"/>
          <p:cNvSpPr/>
          <p:nvPr/>
        </p:nvSpPr>
        <p:spPr>
          <a:xfrm>
            <a:off x="4645152" y="2103120"/>
            <a:ext cx="996696" cy="502920"/>
          </a:xfrm>
          <a:prstGeom prst="rect">
            <a:avLst/>
          </a:prstGeom>
          <a:noFill/>
        </p:spPr>
        <p:txBody>
          <a:bodyPr wrap="square" lIns="254" tIns="254" rIns="254" bIns="254" rtlCol="0" anchor="ctr">
            <a:normAutofit/>
          </a:bodyPr>
          <a:lstStyle/>
          <a:p>
            <a:pPr marL="0" indent="0" algn="ctr">
              <a:buNone/>
            </a:pPr>
            <a:r>
              <a:rPr lang="en-US" sz="1800" b="1" dirty="0">
                <a:solidFill>
                  <a:srgbClr val="111111"/>
                </a:solidFill>
                <a:latin typeface="Arial" panose="020B0604020202020204" pitchFamily="34" charset="0"/>
                <a:ea typeface="Arial" panose="020B0604020202020204" pitchFamily="34" charset="-122"/>
                <a:cs typeface="Arial" panose="020B0604020202020204" pitchFamily="34" charset="-120"/>
              </a:rPr>
              <a:t>PARTIAL</a:t>
            </a:r>
            <a:endParaRPr lang="en-US" sz="1800" dirty="0"/>
          </a:p>
        </p:txBody>
      </p:sp>
      <p:sp>
        <p:nvSpPr>
          <p:cNvPr id="11" name="Shape 9"/>
          <p:cNvSpPr/>
          <p:nvPr/>
        </p:nvSpPr>
        <p:spPr>
          <a:xfrm>
            <a:off x="6400800" y="2057400"/>
            <a:ext cx="1143000" cy="594360"/>
          </a:xfrm>
          <a:prstGeom prst="rect">
            <a:avLst/>
          </a:prstGeom>
          <a:solidFill>
            <a:srgbClr val="FFFFFF"/>
          </a:solidFill>
          <a:ln w="10160">
            <a:solidFill>
              <a:srgbClr val="111111"/>
            </a:solidFill>
            <a:prstDash val="solid"/>
          </a:ln>
        </p:spPr>
      </p:sp>
      <p:sp>
        <p:nvSpPr>
          <p:cNvPr id="12" name="Text 10"/>
          <p:cNvSpPr/>
          <p:nvPr/>
        </p:nvSpPr>
        <p:spPr>
          <a:xfrm>
            <a:off x="6473952" y="2103120"/>
            <a:ext cx="996696" cy="502920"/>
          </a:xfrm>
          <a:prstGeom prst="rect">
            <a:avLst/>
          </a:prstGeom>
          <a:noFill/>
        </p:spPr>
        <p:txBody>
          <a:bodyPr wrap="square" lIns="254" tIns="254" rIns="254" bIns="254" rtlCol="0" anchor="ctr">
            <a:normAutofit/>
          </a:bodyPr>
          <a:lstStyle/>
          <a:p>
            <a:pPr marL="0" indent="0" algn="ctr">
              <a:buNone/>
            </a:pPr>
            <a:r>
              <a:rPr lang="en-US" sz="1800" b="1" dirty="0">
                <a:solidFill>
                  <a:srgbClr val="111111"/>
                </a:solidFill>
                <a:latin typeface="Arial" panose="020B0604020202020204" pitchFamily="34" charset="0"/>
                <a:ea typeface="Arial" panose="020B0604020202020204" pitchFamily="34" charset="-122"/>
                <a:cs typeface="Arial" panose="020B0604020202020204" pitchFamily="34" charset="-120"/>
              </a:rPr>
              <a:t>FUZZY</a:t>
            </a:r>
            <a:endParaRPr lang="en-US" sz="1800" dirty="0"/>
          </a:p>
        </p:txBody>
      </p:sp>
      <p:sp>
        <p:nvSpPr>
          <p:cNvPr id="13" name="Shape 11"/>
          <p:cNvSpPr/>
          <p:nvPr/>
        </p:nvSpPr>
        <p:spPr>
          <a:xfrm>
            <a:off x="2057400" y="2359152"/>
            <a:ext cx="640080" cy="0"/>
          </a:xfrm>
          <a:prstGeom prst="line">
            <a:avLst/>
          </a:prstGeom>
          <a:noFill/>
          <a:ln w="13970">
            <a:solidFill>
              <a:srgbClr val="111111"/>
            </a:solidFill>
            <a:prstDash val="solid"/>
            <a:headEnd type="none"/>
            <a:tailEnd type="triangle"/>
          </a:ln>
        </p:spPr>
      </p:sp>
      <p:sp>
        <p:nvSpPr>
          <p:cNvPr id="14" name="Shape 12"/>
          <p:cNvSpPr/>
          <p:nvPr/>
        </p:nvSpPr>
        <p:spPr>
          <a:xfrm>
            <a:off x="3886200" y="2359152"/>
            <a:ext cx="640080" cy="0"/>
          </a:xfrm>
          <a:prstGeom prst="line">
            <a:avLst/>
          </a:prstGeom>
          <a:noFill/>
          <a:ln w="13970">
            <a:solidFill>
              <a:srgbClr val="111111"/>
            </a:solidFill>
            <a:prstDash val="solid"/>
            <a:headEnd type="none"/>
            <a:tailEnd type="triangle"/>
          </a:ln>
        </p:spPr>
      </p:sp>
      <p:sp>
        <p:nvSpPr>
          <p:cNvPr id="15" name="Shape 13"/>
          <p:cNvSpPr/>
          <p:nvPr/>
        </p:nvSpPr>
        <p:spPr>
          <a:xfrm>
            <a:off x="5715000" y="2359152"/>
            <a:ext cx="640080" cy="0"/>
          </a:xfrm>
          <a:prstGeom prst="line">
            <a:avLst/>
          </a:prstGeom>
          <a:noFill/>
          <a:ln w="13970">
            <a:solidFill>
              <a:srgbClr val="111111"/>
            </a:solidFill>
            <a:prstDash val="solid"/>
            <a:headEnd type="none"/>
            <a:tailEnd type="triangle"/>
          </a:ln>
        </p:spPr>
      </p:sp>
      <p:sp>
        <p:nvSpPr>
          <p:cNvPr id="16" name="Text 14"/>
          <p:cNvSpPr/>
          <p:nvPr/>
        </p:nvSpPr>
        <p:spPr>
          <a:xfrm>
            <a:off x="822960" y="3246120"/>
            <a:ext cx="5486400" cy="2286000"/>
          </a:xfrm>
          <a:prstGeom prst="rect">
            <a:avLst/>
          </a:prstGeom>
          <a:noFill/>
        </p:spPr>
        <p:txBody>
          <a:bodyPr wrap="square" lIns="381" tIns="381" rIns="381" bIns="381" rtlCol="0" anchor="ctr">
            <a:normAutofit/>
          </a:bodyPr>
          <a:lstStyle/>
          <a:p>
            <a:pPr marL="228600" indent="-228600">
              <a:buSzPct val="100000"/>
              <a:buChar char="•"/>
            </a:pPr>
            <a:r>
              <a:rPr lang="en-US" sz="1800" dirty="0">
                <a:solidFill>
                  <a:srgbClr val="111111"/>
                </a:solidFill>
                <a:latin typeface="Arial" panose="020B0604020202020204" pitchFamily="34" charset="0"/>
                <a:ea typeface="Arial" panose="020B0604020202020204" pitchFamily="34" charset="-122"/>
                <a:cs typeface="Arial" panose="020B0604020202020204" pitchFamily="34" charset="-120"/>
              </a:rPr>
              <a:t>Mã nhân viên chỉ dùng Exact Match, không fuzzy sang mã gần giống.</a:t>
            </a:r>
            <a:endParaRPr lang="en-US" sz="1800" dirty="0"/>
          </a:p>
          <a:p>
            <a:pPr marL="228600" indent="-228600">
              <a:buSzPct val="100000"/>
              <a:buChar char="•"/>
            </a:pPr>
            <a:r>
              <a:rPr lang="en-US" sz="1800" dirty="0">
                <a:solidFill>
                  <a:srgbClr val="111111"/>
                </a:solidFill>
                <a:latin typeface="Arial" panose="020B0604020202020204" pitchFamily="34" charset="0"/>
                <a:ea typeface="Arial" panose="020B0604020202020204" pitchFamily="34" charset="-122"/>
                <a:cs typeface="Arial" panose="020B0604020202020204" pitchFamily="34" charset="-120"/>
              </a:rPr>
              <a:t>Tên nhân viên và đơn vị được chuẩn hóa tiếng Việt để tìm không dấu.</a:t>
            </a:r>
            <a:endParaRPr lang="en-US" sz="1800" dirty="0"/>
          </a:p>
          <a:p>
            <a:pPr marL="228600" indent="-228600">
              <a:buSzPct val="100000"/>
              <a:buChar char="•"/>
            </a:pPr>
            <a:r>
              <a:rPr lang="en-US" sz="1800" dirty="0">
                <a:solidFill>
                  <a:srgbClr val="111111"/>
                </a:solidFill>
                <a:latin typeface="Arial" panose="020B0604020202020204" pitchFamily="34" charset="0"/>
                <a:ea typeface="Arial" panose="020B0604020202020204" pitchFamily="34" charset="-122"/>
                <a:cs typeface="Arial" panose="020B0604020202020204" pitchFamily="34" charset="-120"/>
              </a:rPr>
              <a:t>Ranking ưu tiên EXACT &gt; TOKEN &gt; PARTIAL &gt; FUZZY.</a:t>
            </a:r>
            <a:endParaRPr lang="en-US" sz="1800" dirty="0"/>
          </a:p>
          <a:p>
            <a:pPr marL="228600" indent="-228600">
              <a:buSzPct val="100000"/>
              <a:buChar char="•"/>
            </a:pPr>
            <a:r>
              <a:rPr lang="en-US" sz="1800" dirty="0">
                <a:solidFill>
                  <a:srgbClr val="111111"/>
                </a:solidFill>
                <a:latin typeface="Arial" panose="020B0604020202020204" pitchFamily="34" charset="0"/>
                <a:ea typeface="Arial" panose="020B0604020202020204" pitchFamily="34" charset="-122"/>
                <a:cs typeface="Arial" panose="020B0604020202020204" pitchFamily="34" charset="-120"/>
              </a:rPr>
              <a:t>Kết quả có phân trang để không tải toàn bộ dữ liệu lên UI.</a:t>
            </a:r>
            <a:endParaRPr lang="en-US" sz="1800" dirty="0"/>
          </a:p>
        </p:txBody>
      </p:sp>
      <p:sp>
        <p:nvSpPr>
          <p:cNvPr id="17" name="Shape 15"/>
          <p:cNvSpPr/>
          <p:nvPr/>
        </p:nvSpPr>
        <p:spPr>
          <a:xfrm>
            <a:off x="6629400" y="2788920"/>
            <a:ext cx="4800600" cy="2423160"/>
          </a:xfrm>
          <a:prstGeom prst="rect">
            <a:avLst/>
          </a:prstGeom>
          <a:solidFill>
            <a:srgbClr val="FFFFFF">
              <a:alpha val="0"/>
            </a:srgbClr>
          </a:solidFill>
          <a:ln w="12700">
            <a:solidFill>
              <a:srgbClr val="D9D9D9"/>
            </a:solidFill>
            <a:prstDash val="solid"/>
          </a:ln>
        </p:spPr>
      </p:sp>
      <p:pic>
        <p:nvPicPr>
          <p:cNvPr id="18" name="Image 0" descr="/mnt/data/ppt_assets/preview.png"/>
          <p:cNvPicPr>
            <a:picLocks noChangeAspect="1"/>
          </p:cNvPicPr>
          <p:nvPr/>
        </p:nvPicPr>
        <p:blipFill>
          <a:blip r:embed="rId1"/>
          <a:srcRect l="2535" r="2535"/>
          <a:stretch>
            <a:fillRect/>
          </a:stretch>
        </p:blipFill>
        <p:spPr>
          <a:xfrm>
            <a:off x="6629400" y="2788920"/>
            <a:ext cx="4800600" cy="2423160"/>
          </a:xfrm>
          <a:prstGeom prst="rect">
            <a:avLst/>
          </a:prstGeom>
        </p:spPr>
      </p:pic>
      <p:sp>
        <p:nvSpPr>
          <p:cNvPr id="19" name="Text 16"/>
          <p:cNvSpPr/>
          <p:nvPr/>
        </p:nvSpPr>
        <p:spPr>
          <a:xfrm>
            <a:off x="6629400" y="5394960"/>
            <a:ext cx="4800600" cy="365760"/>
          </a:xfrm>
          <a:prstGeom prst="rect">
            <a:avLst/>
          </a:prstGeom>
          <a:noFill/>
        </p:spPr>
        <p:txBody>
          <a:bodyPr wrap="square" lIns="508" tIns="508" rIns="508" bIns="508" rtlCol="0" anchor="ctr">
            <a:normAutofit/>
          </a:bodyPr>
          <a:lstStyle/>
          <a:p>
            <a:pPr marL="0" indent="0">
              <a:buNone/>
            </a:pPr>
            <a:r>
              <a:rPr lang="en-US" sz="1700" dirty="0">
                <a:solidFill>
                  <a:srgbClr val="111111"/>
                </a:solidFill>
                <a:latin typeface="Arial" panose="020B0604020202020204" pitchFamily="34" charset="0"/>
                <a:ea typeface="Arial" panose="020B0604020202020204" pitchFamily="34" charset="-122"/>
                <a:cs typeface="Arial" panose="020B0604020202020204" pitchFamily="34" charset="-120"/>
              </a:rPr>
              <a:t>Search và dữ liệu sau Commit dùng chung SQLite</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20040"/>
            <a:ext cx="11201400" cy="384048"/>
          </a:xfrm>
          <a:prstGeom prst="rect">
            <a:avLst/>
          </a:prstGeom>
          <a:noFill/>
        </p:spPr>
        <p:txBody>
          <a:bodyPr wrap="square" lIns="0" tIns="0" rIns="0" bIns="0" rtlCol="0" anchor="ctr"/>
          <a:lstStyle/>
          <a:p>
            <a:pPr marL="0" indent="0">
              <a:buNone/>
            </a:pPr>
            <a:r>
              <a:rPr lang="en-US" sz="2300" b="1" dirty="0">
                <a:solidFill>
                  <a:srgbClr val="111111"/>
                </a:solidFill>
                <a:latin typeface="Arial" panose="020B0604020202020204" pitchFamily="34" charset="0"/>
                <a:ea typeface="Arial" panose="020B0604020202020204" pitchFamily="34" charset="-122"/>
                <a:cs typeface="Arial" panose="020B0604020202020204" pitchFamily="34" charset="-120"/>
              </a:rPr>
              <a:t>9. Rule Engine</a:t>
            </a:r>
            <a:endParaRPr lang="en-US" sz="2300" dirty="0"/>
          </a:p>
        </p:txBody>
      </p:sp>
      <p:sp>
        <p:nvSpPr>
          <p:cNvPr id="3" name="Shape 1"/>
          <p:cNvSpPr/>
          <p:nvPr/>
        </p:nvSpPr>
        <p:spPr>
          <a:xfrm>
            <a:off x="502920" y="804672"/>
            <a:ext cx="11201400" cy="0"/>
          </a:xfrm>
          <a:prstGeom prst="line">
            <a:avLst/>
          </a:prstGeom>
          <a:noFill/>
          <a:ln w="12700">
            <a:solidFill>
              <a:srgbClr val="D9D9D9"/>
            </a:solidFill>
            <a:prstDash val="solid"/>
          </a:ln>
        </p:spPr>
      </p:sp>
      <p:sp>
        <p:nvSpPr>
          <p:cNvPr id="4" name="Text 2"/>
          <p:cNvSpPr/>
          <p:nvPr/>
        </p:nvSpPr>
        <p:spPr>
          <a:xfrm>
            <a:off x="685800" y="960120"/>
            <a:ext cx="10972800" cy="411480"/>
          </a:xfrm>
          <a:prstGeom prst="rect">
            <a:avLst/>
          </a:prstGeom>
          <a:noFill/>
        </p:spPr>
        <p:txBody>
          <a:bodyPr wrap="square" lIns="381" tIns="381" rIns="381" bIns="381" rtlCol="0" anchor="ctr">
            <a:normAutofit/>
          </a:bodyPr>
          <a:lstStyle/>
          <a:p>
            <a:pPr marL="0" indent="0">
              <a:buNone/>
            </a:pPr>
            <a:r>
              <a:rPr lang="en-US" sz="1800" b="1" dirty="0">
                <a:solidFill>
                  <a:srgbClr val="111111"/>
                </a:solidFill>
                <a:latin typeface="Arial" panose="020B0604020202020204" pitchFamily="34" charset="0"/>
                <a:ea typeface="Arial" panose="020B0604020202020204" pitchFamily="34" charset="-122"/>
                <a:cs typeface="Arial" panose="020B0604020202020204" pitchFamily="34" charset="-120"/>
              </a:rPr>
              <a:t>Rule Engine là thành phần quyết định trạng thái chi trả.</a:t>
            </a:r>
            <a:endParaRPr lang="en-US" sz="1800" dirty="0"/>
          </a:p>
        </p:txBody>
      </p:sp>
      <p:sp>
        <p:nvSpPr>
          <p:cNvPr id="5" name="Shape 3"/>
          <p:cNvSpPr/>
          <p:nvPr/>
        </p:nvSpPr>
        <p:spPr>
          <a:xfrm>
            <a:off x="914400" y="1691640"/>
            <a:ext cx="1600200" cy="685800"/>
          </a:xfrm>
          <a:prstGeom prst="rect">
            <a:avLst/>
          </a:prstGeom>
          <a:solidFill>
            <a:srgbClr val="FFFFFF"/>
          </a:solidFill>
          <a:ln w="10160">
            <a:solidFill>
              <a:srgbClr val="111111"/>
            </a:solidFill>
            <a:prstDash val="solid"/>
          </a:ln>
        </p:spPr>
      </p:sp>
      <p:sp>
        <p:nvSpPr>
          <p:cNvPr id="6" name="Text 4"/>
          <p:cNvSpPr/>
          <p:nvPr/>
        </p:nvSpPr>
        <p:spPr>
          <a:xfrm>
            <a:off x="987552" y="1737360"/>
            <a:ext cx="1453896" cy="594360"/>
          </a:xfrm>
          <a:prstGeom prst="rect">
            <a:avLst/>
          </a:prstGeom>
          <a:noFill/>
        </p:spPr>
        <p:txBody>
          <a:bodyPr wrap="square" lIns="254" tIns="254" rIns="254" bIns="254" rtlCol="0" anchor="ctr">
            <a:normAutofit/>
          </a:bodyPr>
          <a:lstStyle/>
          <a:p>
            <a:pPr marL="0" indent="0" algn="ctr">
              <a:buNone/>
            </a:pPr>
            <a:r>
              <a:rPr lang="en-US" sz="1700" b="1" dirty="0">
                <a:solidFill>
                  <a:srgbClr val="111111"/>
                </a:solidFill>
                <a:latin typeface="Arial" panose="020B0604020202020204" pitchFamily="34" charset="0"/>
                <a:ea typeface="Arial" panose="020B0604020202020204" pitchFamily="34" charset="-122"/>
                <a:cs typeface="Arial" panose="020B0604020202020204" pitchFamily="34" charset="-120"/>
              </a:rPr>
              <a:t>Ngoại lệ</a:t>
            </a:r>
            <a:endParaRPr lang="en-US" sz="1700" dirty="0"/>
          </a:p>
          <a:p>
            <a:pPr marL="0" indent="0" algn="ctr">
              <a:buNone/>
            </a:pPr>
            <a:r>
              <a:rPr lang="en-US" sz="1700" b="1" dirty="0">
                <a:solidFill>
                  <a:srgbClr val="111111"/>
                </a:solidFill>
                <a:latin typeface="Arial" panose="020B0604020202020204" pitchFamily="34" charset="0"/>
                <a:ea typeface="Arial" panose="020B0604020202020204" pitchFamily="34" charset="-122"/>
                <a:cs typeface="Arial" panose="020B0604020202020204" pitchFamily="34" charset="-120"/>
              </a:rPr>
              <a:t>cá nhân</a:t>
            </a:r>
            <a:endParaRPr lang="en-US" sz="1700" dirty="0"/>
          </a:p>
        </p:txBody>
      </p:sp>
      <p:sp>
        <p:nvSpPr>
          <p:cNvPr id="7" name="Shape 5"/>
          <p:cNvSpPr/>
          <p:nvPr/>
        </p:nvSpPr>
        <p:spPr>
          <a:xfrm>
            <a:off x="3108960" y="1691640"/>
            <a:ext cx="1600200" cy="685800"/>
          </a:xfrm>
          <a:prstGeom prst="rect">
            <a:avLst/>
          </a:prstGeom>
          <a:solidFill>
            <a:srgbClr val="FFFFFF"/>
          </a:solidFill>
          <a:ln w="10160">
            <a:solidFill>
              <a:srgbClr val="111111"/>
            </a:solidFill>
            <a:prstDash val="solid"/>
          </a:ln>
        </p:spPr>
      </p:sp>
      <p:sp>
        <p:nvSpPr>
          <p:cNvPr id="8" name="Text 6"/>
          <p:cNvSpPr/>
          <p:nvPr/>
        </p:nvSpPr>
        <p:spPr>
          <a:xfrm>
            <a:off x="3182112" y="1737360"/>
            <a:ext cx="1453896" cy="594360"/>
          </a:xfrm>
          <a:prstGeom prst="rect">
            <a:avLst/>
          </a:prstGeom>
          <a:noFill/>
        </p:spPr>
        <p:txBody>
          <a:bodyPr wrap="square" lIns="254" tIns="254" rIns="254" bIns="254" rtlCol="0" anchor="ctr">
            <a:normAutofit/>
          </a:bodyPr>
          <a:lstStyle/>
          <a:p>
            <a:pPr marL="0" indent="0" algn="ctr">
              <a:buNone/>
            </a:pPr>
            <a:r>
              <a:rPr lang="en-US" sz="1700" b="1" dirty="0">
                <a:solidFill>
                  <a:srgbClr val="111111"/>
                </a:solidFill>
                <a:latin typeface="Arial" panose="020B0604020202020204" pitchFamily="34" charset="0"/>
                <a:ea typeface="Arial" panose="020B0604020202020204" pitchFamily="34" charset="-122"/>
                <a:cs typeface="Arial" panose="020B0604020202020204" pitchFamily="34" charset="-120"/>
              </a:rPr>
              <a:t>Rule theo</a:t>
            </a:r>
            <a:endParaRPr lang="en-US" sz="1700" dirty="0"/>
          </a:p>
          <a:p>
            <a:pPr marL="0" indent="0" algn="ctr">
              <a:buNone/>
            </a:pPr>
            <a:r>
              <a:rPr lang="en-US" sz="1700" b="1" dirty="0">
                <a:solidFill>
                  <a:srgbClr val="111111"/>
                </a:solidFill>
                <a:latin typeface="Arial" panose="020B0604020202020204" pitchFamily="34" charset="0"/>
                <a:ea typeface="Arial" panose="020B0604020202020204" pitchFamily="34" charset="-122"/>
                <a:cs typeface="Arial" panose="020B0604020202020204" pitchFamily="34" charset="-120"/>
              </a:rPr>
              <a:t>đơn vị</a:t>
            </a:r>
            <a:endParaRPr lang="en-US" sz="1700" dirty="0"/>
          </a:p>
        </p:txBody>
      </p:sp>
      <p:sp>
        <p:nvSpPr>
          <p:cNvPr id="9" name="Shape 7"/>
          <p:cNvSpPr/>
          <p:nvPr/>
        </p:nvSpPr>
        <p:spPr>
          <a:xfrm>
            <a:off x="5303520" y="1691640"/>
            <a:ext cx="1600200" cy="685800"/>
          </a:xfrm>
          <a:prstGeom prst="rect">
            <a:avLst/>
          </a:prstGeom>
          <a:solidFill>
            <a:srgbClr val="FFFFFF"/>
          </a:solidFill>
          <a:ln w="10160">
            <a:solidFill>
              <a:srgbClr val="111111"/>
            </a:solidFill>
            <a:prstDash val="solid"/>
          </a:ln>
        </p:spPr>
      </p:sp>
      <p:sp>
        <p:nvSpPr>
          <p:cNvPr id="10" name="Text 8"/>
          <p:cNvSpPr/>
          <p:nvPr/>
        </p:nvSpPr>
        <p:spPr>
          <a:xfrm>
            <a:off x="5376672" y="1737360"/>
            <a:ext cx="1453896" cy="594360"/>
          </a:xfrm>
          <a:prstGeom prst="rect">
            <a:avLst/>
          </a:prstGeom>
          <a:noFill/>
        </p:spPr>
        <p:txBody>
          <a:bodyPr wrap="square" lIns="254" tIns="254" rIns="254" bIns="254" rtlCol="0" anchor="ctr">
            <a:normAutofit/>
          </a:bodyPr>
          <a:lstStyle/>
          <a:p>
            <a:pPr marL="0" indent="0" algn="ctr">
              <a:buNone/>
            </a:pPr>
            <a:r>
              <a:rPr lang="en-US" sz="1700" b="1" dirty="0">
                <a:solidFill>
                  <a:srgbClr val="111111"/>
                </a:solidFill>
                <a:latin typeface="Arial" panose="020B0604020202020204" pitchFamily="34" charset="0"/>
                <a:ea typeface="Arial" panose="020B0604020202020204" pitchFamily="34" charset="-122"/>
                <a:cs typeface="Arial" panose="020B0604020202020204" pitchFamily="34" charset="-120"/>
              </a:rPr>
              <a:t>Rule theo</a:t>
            </a:r>
            <a:endParaRPr lang="en-US" sz="1700" dirty="0"/>
          </a:p>
          <a:p>
            <a:pPr marL="0" indent="0" algn="ctr">
              <a:buNone/>
            </a:pPr>
            <a:r>
              <a:rPr lang="en-US" sz="1700" b="1" dirty="0">
                <a:solidFill>
                  <a:srgbClr val="111111"/>
                </a:solidFill>
                <a:latin typeface="Arial" panose="020B0604020202020204" pitchFamily="34" charset="0"/>
                <a:ea typeface="Arial" panose="020B0604020202020204" pitchFamily="34" charset="-122"/>
                <a:cs typeface="Arial" panose="020B0604020202020204" pitchFamily="34" charset="-120"/>
              </a:rPr>
              <a:t>loại đơn vị</a:t>
            </a:r>
            <a:endParaRPr lang="en-US" sz="1700" dirty="0"/>
          </a:p>
        </p:txBody>
      </p:sp>
      <p:sp>
        <p:nvSpPr>
          <p:cNvPr id="11" name="Shape 9"/>
          <p:cNvSpPr/>
          <p:nvPr/>
        </p:nvSpPr>
        <p:spPr>
          <a:xfrm>
            <a:off x="7680960" y="1691640"/>
            <a:ext cx="1600200" cy="685800"/>
          </a:xfrm>
          <a:prstGeom prst="rect">
            <a:avLst/>
          </a:prstGeom>
          <a:solidFill>
            <a:srgbClr val="F4F4F4"/>
          </a:solidFill>
          <a:ln w="10160">
            <a:solidFill>
              <a:srgbClr val="111111"/>
            </a:solidFill>
            <a:prstDash val="solid"/>
          </a:ln>
        </p:spPr>
      </p:sp>
      <p:sp>
        <p:nvSpPr>
          <p:cNvPr id="12" name="Text 10"/>
          <p:cNvSpPr/>
          <p:nvPr/>
        </p:nvSpPr>
        <p:spPr>
          <a:xfrm>
            <a:off x="7754112" y="1737360"/>
            <a:ext cx="1453896" cy="594360"/>
          </a:xfrm>
          <a:prstGeom prst="rect">
            <a:avLst/>
          </a:prstGeom>
          <a:noFill/>
        </p:spPr>
        <p:txBody>
          <a:bodyPr wrap="square" lIns="254" tIns="254" rIns="254" bIns="254" rtlCol="0" anchor="ctr">
            <a:normAutofit/>
          </a:bodyPr>
          <a:lstStyle/>
          <a:p>
            <a:pPr marL="0" indent="0" algn="ctr">
              <a:buNone/>
            </a:pPr>
            <a:r>
              <a:rPr lang="en-US" sz="1700" b="1" dirty="0">
                <a:solidFill>
                  <a:srgbClr val="111111"/>
                </a:solidFill>
                <a:latin typeface="Arial" panose="020B0604020202020204" pitchFamily="34" charset="0"/>
                <a:ea typeface="Arial" panose="020B0604020202020204" pitchFamily="34" charset="-122"/>
                <a:cs typeface="Arial" panose="020B0604020202020204" pitchFamily="34" charset="-120"/>
              </a:rPr>
              <a:t>CHUA_XAC_DINH</a:t>
            </a:r>
            <a:endParaRPr lang="en-US" sz="1700" dirty="0"/>
          </a:p>
        </p:txBody>
      </p:sp>
      <p:sp>
        <p:nvSpPr>
          <p:cNvPr id="13" name="Shape 11"/>
          <p:cNvSpPr/>
          <p:nvPr/>
        </p:nvSpPr>
        <p:spPr>
          <a:xfrm>
            <a:off x="2514600" y="2039112"/>
            <a:ext cx="548640" cy="0"/>
          </a:xfrm>
          <a:prstGeom prst="line">
            <a:avLst/>
          </a:prstGeom>
          <a:noFill/>
          <a:ln w="13970">
            <a:solidFill>
              <a:srgbClr val="111111"/>
            </a:solidFill>
            <a:prstDash val="solid"/>
            <a:headEnd type="none"/>
            <a:tailEnd type="triangle"/>
          </a:ln>
        </p:spPr>
      </p:sp>
      <p:sp>
        <p:nvSpPr>
          <p:cNvPr id="14" name="Shape 12"/>
          <p:cNvSpPr/>
          <p:nvPr/>
        </p:nvSpPr>
        <p:spPr>
          <a:xfrm>
            <a:off x="4709160" y="2039112"/>
            <a:ext cx="548640" cy="0"/>
          </a:xfrm>
          <a:prstGeom prst="line">
            <a:avLst/>
          </a:prstGeom>
          <a:noFill/>
          <a:ln w="13970">
            <a:solidFill>
              <a:srgbClr val="111111"/>
            </a:solidFill>
            <a:prstDash val="solid"/>
            <a:headEnd type="none"/>
            <a:tailEnd type="triangle"/>
          </a:ln>
        </p:spPr>
      </p:sp>
      <p:sp>
        <p:nvSpPr>
          <p:cNvPr id="15" name="Shape 13"/>
          <p:cNvSpPr/>
          <p:nvPr/>
        </p:nvSpPr>
        <p:spPr>
          <a:xfrm>
            <a:off x="6903720" y="2039112"/>
            <a:ext cx="731520" cy="0"/>
          </a:xfrm>
          <a:prstGeom prst="line">
            <a:avLst/>
          </a:prstGeom>
          <a:noFill/>
          <a:ln w="13970">
            <a:solidFill>
              <a:srgbClr val="111111"/>
            </a:solidFill>
            <a:prstDash val="solid"/>
            <a:headEnd type="none"/>
            <a:tailEnd type="triangle"/>
          </a:ln>
        </p:spPr>
      </p:sp>
      <p:sp>
        <p:nvSpPr>
          <p:cNvPr id="16" name="Text 14"/>
          <p:cNvSpPr/>
          <p:nvPr/>
        </p:nvSpPr>
        <p:spPr>
          <a:xfrm>
            <a:off x="822960" y="2971800"/>
            <a:ext cx="5120640" cy="2377440"/>
          </a:xfrm>
          <a:prstGeom prst="rect">
            <a:avLst/>
          </a:prstGeom>
          <a:noFill/>
        </p:spPr>
        <p:txBody>
          <a:bodyPr wrap="square" lIns="381" tIns="381" rIns="381" bIns="381" rtlCol="0" anchor="ctr">
            <a:normAutofit/>
          </a:bodyPr>
          <a:lstStyle/>
          <a:p>
            <a:pPr marL="228600" indent="-228600">
              <a:buSzPct val="100000"/>
              <a:buChar char="•"/>
            </a:pPr>
            <a:r>
              <a:rPr lang="en-US" sz="1800" dirty="0">
                <a:solidFill>
                  <a:srgbClr val="111111"/>
                </a:solidFill>
                <a:latin typeface="Arial" panose="020B0604020202020204" pitchFamily="34" charset="0"/>
                <a:ea typeface="Arial" panose="020B0604020202020204" pitchFamily="34" charset="-122"/>
                <a:cs typeface="Arial" panose="020B0604020202020204" pitchFamily="34" charset="-120"/>
              </a:rPr>
              <a:t>Ngoại lệ cá nhân có ưu tiên cao nhất.</a:t>
            </a:r>
            <a:endParaRPr lang="en-US" sz="1800" dirty="0"/>
          </a:p>
          <a:p>
            <a:pPr marL="228600" indent="-228600">
              <a:buSzPct val="100000"/>
              <a:buChar char="•"/>
            </a:pPr>
            <a:r>
              <a:rPr lang="en-US" sz="1800" dirty="0">
                <a:solidFill>
                  <a:srgbClr val="111111"/>
                </a:solidFill>
                <a:latin typeface="Arial" panose="020B0604020202020204" pitchFamily="34" charset="0"/>
                <a:ea typeface="Arial" panose="020B0604020202020204" pitchFamily="34" charset="-122"/>
                <a:cs typeface="Arial" panose="020B0604020202020204" pitchFamily="34" charset="-120"/>
              </a:rPr>
              <a:t>Rule tương lai, hết hạn hoặc inactive bị bỏ qua.</a:t>
            </a:r>
            <a:endParaRPr lang="en-US" sz="1800" dirty="0"/>
          </a:p>
          <a:p>
            <a:pPr marL="228600" indent="-228600">
              <a:buSzPct val="100000"/>
              <a:buChar char="•"/>
            </a:pPr>
            <a:r>
              <a:rPr lang="en-US" sz="1800" dirty="0">
                <a:solidFill>
                  <a:srgbClr val="111111"/>
                </a:solidFill>
                <a:latin typeface="Arial" panose="020B0604020202020204" pitchFamily="34" charset="0"/>
                <a:ea typeface="Arial" panose="020B0604020202020204" pitchFamily="34" charset="-122"/>
                <a:cs typeface="Arial" panose="020B0604020202020204" pitchFamily="34" charset="-120"/>
              </a:rPr>
              <a:t>Mọi kết quả YES/NO phải có căn cứ và mã quy tắc.</a:t>
            </a:r>
            <a:endParaRPr lang="en-US" sz="1800" dirty="0"/>
          </a:p>
          <a:p>
            <a:pPr marL="228600" indent="-228600">
              <a:buSzPct val="100000"/>
              <a:buChar char="•"/>
            </a:pPr>
            <a:r>
              <a:rPr lang="en-US" sz="1800" dirty="0">
                <a:solidFill>
                  <a:srgbClr val="111111"/>
                </a:solidFill>
                <a:latin typeface="Arial" panose="020B0604020202020204" pitchFamily="34" charset="0"/>
                <a:ea typeface="Arial" panose="020B0604020202020204" pitchFamily="34" charset="-122"/>
                <a:cs typeface="Arial" panose="020B0604020202020204" pitchFamily="34" charset="-120"/>
              </a:rPr>
              <a:t>Nếu không có rule phù hợp thì trả CHUA_XAC_DINH.</a:t>
            </a:r>
            <a:endParaRPr lang="en-US" sz="1800" dirty="0"/>
          </a:p>
        </p:txBody>
      </p:sp>
      <p:sp>
        <p:nvSpPr>
          <p:cNvPr id="17" name="Shape 15"/>
          <p:cNvSpPr/>
          <p:nvPr/>
        </p:nvSpPr>
        <p:spPr>
          <a:xfrm>
            <a:off x="6309360" y="2834640"/>
            <a:ext cx="5074920" cy="2560320"/>
          </a:xfrm>
          <a:prstGeom prst="rect">
            <a:avLst/>
          </a:prstGeom>
          <a:solidFill>
            <a:srgbClr val="FFFFFF">
              <a:alpha val="0"/>
            </a:srgbClr>
          </a:solidFill>
          <a:ln w="12700">
            <a:solidFill>
              <a:srgbClr val="D9D9D9"/>
            </a:solidFill>
            <a:prstDash val="solid"/>
          </a:ln>
        </p:spPr>
      </p:sp>
      <p:pic>
        <p:nvPicPr>
          <p:cNvPr id="18" name="Image 0" descr="/mnt/data/ppt_assets/units.png"/>
          <p:cNvPicPr>
            <a:picLocks noChangeAspect="1"/>
          </p:cNvPicPr>
          <p:nvPr/>
        </p:nvPicPr>
        <p:blipFill>
          <a:blip r:embed="rId1"/>
          <a:srcRect l="2511" r="2511"/>
          <a:stretch>
            <a:fillRect/>
          </a:stretch>
        </p:blipFill>
        <p:spPr>
          <a:xfrm>
            <a:off x="6309360" y="2834640"/>
            <a:ext cx="5074920" cy="256032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20040"/>
            <a:ext cx="11201400" cy="384048"/>
          </a:xfrm>
          <a:prstGeom prst="rect">
            <a:avLst/>
          </a:prstGeom>
          <a:noFill/>
        </p:spPr>
        <p:txBody>
          <a:bodyPr wrap="square" lIns="0" tIns="0" rIns="0" bIns="0" rtlCol="0" anchor="ctr"/>
          <a:lstStyle/>
          <a:p>
            <a:pPr marL="0" indent="0">
              <a:buNone/>
            </a:pPr>
            <a:r>
              <a:rPr lang="en-US" sz="2300" b="1" dirty="0">
                <a:solidFill>
                  <a:srgbClr val="111111"/>
                </a:solidFill>
                <a:latin typeface="Arial" panose="020B0604020202020204" pitchFamily="34" charset="0"/>
                <a:ea typeface="Arial" panose="020B0604020202020204" pitchFamily="34" charset="-122"/>
                <a:cs typeface="Arial" panose="020B0604020202020204" pitchFamily="34" charset="-120"/>
              </a:rPr>
              <a:t>10. Xác thực, phân quyền và giao diện</a:t>
            </a:r>
            <a:endParaRPr lang="en-US" sz="2300" dirty="0"/>
          </a:p>
        </p:txBody>
      </p:sp>
      <p:sp>
        <p:nvSpPr>
          <p:cNvPr id="3" name="Shape 1"/>
          <p:cNvSpPr/>
          <p:nvPr/>
        </p:nvSpPr>
        <p:spPr>
          <a:xfrm>
            <a:off x="502920" y="804672"/>
            <a:ext cx="11201400" cy="0"/>
          </a:xfrm>
          <a:prstGeom prst="line">
            <a:avLst/>
          </a:prstGeom>
          <a:noFill/>
          <a:ln w="12700">
            <a:solidFill>
              <a:srgbClr val="D9D9D9"/>
            </a:solidFill>
            <a:prstDash val="solid"/>
          </a:ln>
        </p:spPr>
      </p:sp>
      <p:sp>
        <p:nvSpPr>
          <p:cNvPr id="4" name="Shape 2"/>
          <p:cNvSpPr/>
          <p:nvPr/>
        </p:nvSpPr>
        <p:spPr>
          <a:xfrm>
            <a:off x="685800" y="1051560"/>
            <a:ext cx="5852160" cy="533400"/>
          </a:xfrm>
          <a:prstGeom prst="rect">
            <a:avLst/>
          </a:prstGeom>
          <a:solidFill>
            <a:srgbClr val="F4F4F4"/>
          </a:solidFill>
          <a:ln w="10160">
            <a:solidFill>
              <a:srgbClr val="D9D9D9"/>
            </a:solidFill>
            <a:prstDash val="solid"/>
          </a:ln>
        </p:spPr>
      </p:sp>
      <p:sp>
        <p:nvSpPr>
          <p:cNvPr id="5" name="Shape 3"/>
          <p:cNvSpPr/>
          <p:nvPr/>
        </p:nvSpPr>
        <p:spPr>
          <a:xfrm>
            <a:off x="2909621" y="1051560"/>
            <a:ext cx="0" cy="533400"/>
          </a:xfrm>
          <a:prstGeom prst="line">
            <a:avLst/>
          </a:prstGeom>
          <a:noFill/>
          <a:ln w="10160">
            <a:solidFill>
              <a:srgbClr val="D9D9D9"/>
            </a:solidFill>
            <a:prstDash val="solid"/>
          </a:ln>
        </p:spPr>
      </p:sp>
      <p:sp>
        <p:nvSpPr>
          <p:cNvPr id="6" name="Text 4"/>
          <p:cNvSpPr/>
          <p:nvPr/>
        </p:nvSpPr>
        <p:spPr>
          <a:xfrm>
            <a:off x="758952" y="1097280"/>
            <a:ext cx="2077517" cy="441960"/>
          </a:xfrm>
          <a:prstGeom prst="rect">
            <a:avLst/>
          </a:prstGeom>
          <a:noFill/>
        </p:spPr>
        <p:txBody>
          <a:bodyPr wrap="square" lIns="508" tIns="508" rIns="508" bIns="508" rtlCol="0" anchor="ctr">
            <a:normAutofit/>
          </a:bodyPr>
          <a:lstStyle/>
          <a:p>
            <a:pPr marL="0" indent="0">
              <a:buNone/>
            </a:pPr>
            <a:r>
              <a:rPr lang="en-US" sz="1700" b="1" dirty="0">
                <a:solidFill>
                  <a:srgbClr val="111111"/>
                </a:solidFill>
                <a:latin typeface="Arial" panose="020B0604020202020204" pitchFamily="34" charset="0"/>
                <a:ea typeface="Arial" panose="020B0604020202020204" pitchFamily="34" charset="-122"/>
                <a:cs typeface="Arial" panose="020B0604020202020204" pitchFamily="34" charset="-120"/>
              </a:rPr>
              <a:t>Role</a:t>
            </a:r>
            <a:endParaRPr lang="en-US" sz="1700" dirty="0"/>
          </a:p>
        </p:txBody>
      </p:sp>
      <p:sp>
        <p:nvSpPr>
          <p:cNvPr id="7" name="Text 5"/>
          <p:cNvSpPr/>
          <p:nvPr/>
        </p:nvSpPr>
        <p:spPr>
          <a:xfrm>
            <a:off x="2982773" y="1097280"/>
            <a:ext cx="3482035" cy="441960"/>
          </a:xfrm>
          <a:prstGeom prst="rect">
            <a:avLst/>
          </a:prstGeom>
          <a:noFill/>
        </p:spPr>
        <p:txBody>
          <a:bodyPr wrap="square" lIns="508" tIns="508" rIns="508" bIns="508" rtlCol="0" anchor="ctr">
            <a:normAutofit/>
          </a:bodyPr>
          <a:lstStyle/>
          <a:p>
            <a:pPr marL="0" indent="0">
              <a:buNone/>
            </a:pPr>
            <a:r>
              <a:rPr lang="en-US" sz="1700" b="1" dirty="0">
                <a:solidFill>
                  <a:srgbClr val="111111"/>
                </a:solidFill>
                <a:latin typeface="Arial" panose="020B0604020202020204" pitchFamily="34" charset="0"/>
                <a:ea typeface="Arial" panose="020B0604020202020204" pitchFamily="34" charset="-122"/>
                <a:cs typeface="Arial" panose="020B0604020202020204" pitchFamily="34" charset="-120"/>
              </a:rPr>
              <a:t>Quyền chính</a:t>
            </a:r>
            <a:endParaRPr lang="en-US" sz="1700" dirty="0"/>
          </a:p>
        </p:txBody>
      </p:sp>
      <p:sp>
        <p:nvSpPr>
          <p:cNvPr id="8" name="Shape 6"/>
          <p:cNvSpPr/>
          <p:nvPr/>
        </p:nvSpPr>
        <p:spPr>
          <a:xfrm>
            <a:off x="685800" y="1584960"/>
            <a:ext cx="5852160" cy="725805"/>
          </a:xfrm>
          <a:prstGeom prst="rect">
            <a:avLst/>
          </a:prstGeom>
          <a:solidFill>
            <a:srgbClr val="FFFFFF"/>
          </a:solidFill>
          <a:ln w="10160">
            <a:solidFill>
              <a:srgbClr val="D9D9D9"/>
            </a:solidFill>
            <a:prstDash val="solid"/>
          </a:ln>
        </p:spPr>
      </p:sp>
      <p:sp>
        <p:nvSpPr>
          <p:cNvPr id="9" name="Shape 7"/>
          <p:cNvSpPr/>
          <p:nvPr/>
        </p:nvSpPr>
        <p:spPr>
          <a:xfrm>
            <a:off x="2909621" y="1584960"/>
            <a:ext cx="0" cy="533400"/>
          </a:xfrm>
          <a:prstGeom prst="line">
            <a:avLst/>
          </a:prstGeom>
          <a:noFill/>
          <a:ln w="10160">
            <a:solidFill>
              <a:srgbClr val="D9D9D9"/>
            </a:solidFill>
            <a:prstDash val="solid"/>
          </a:ln>
        </p:spPr>
      </p:sp>
      <p:sp>
        <p:nvSpPr>
          <p:cNvPr id="10" name="Text 8"/>
          <p:cNvSpPr/>
          <p:nvPr/>
        </p:nvSpPr>
        <p:spPr>
          <a:xfrm>
            <a:off x="758952" y="1630680"/>
            <a:ext cx="2077517" cy="441960"/>
          </a:xfrm>
          <a:prstGeom prst="rect">
            <a:avLst/>
          </a:prstGeom>
          <a:noFill/>
        </p:spPr>
        <p:txBody>
          <a:bodyPr wrap="square" lIns="508" tIns="508" rIns="508" bIns="508" rtlCol="0" anchor="ctr">
            <a:normAutofit/>
          </a:bodyPr>
          <a:lstStyle/>
          <a:p>
            <a:pPr marL="0" indent="0">
              <a:buNone/>
            </a:pPr>
            <a:r>
              <a:rPr lang="en-US" sz="1700" dirty="0">
                <a:solidFill>
                  <a:srgbClr val="111111"/>
                </a:solidFill>
                <a:latin typeface="Arial" panose="020B0604020202020204" pitchFamily="34" charset="0"/>
                <a:ea typeface="Arial" panose="020B0604020202020204" pitchFamily="34" charset="-122"/>
                <a:cs typeface="Arial" panose="020B0604020202020204" pitchFamily="34" charset="-120"/>
              </a:rPr>
              <a:t>ADMIN</a:t>
            </a:r>
            <a:endParaRPr lang="en-US" sz="1700" dirty="0"/>
          </a:p>
        </p:txBody>
      </p:sp>
      <p:sp>
        <p:nvSpPr>
          <p:cNvPr id="11" name="Text 9"/>
          <p:cNvSpPr/>
          <p:nvPr/>
        </p:nvSpPr>
        <p:spPr>
          <a:xfrm>
            <a:off x="2982773" y="1630680"/>
            <a:ext cx="3482035" cy="441960"/>
          </a:xfrm>
          <a:prstGeom prst="rect">
            <a:avLst/>
          </a:prstGeom>
          <a:noFill/>
        </p:spPr>
        <p:txBody>
          <a:bodyPr wrap="square" lIns="508" tIns="508" rIns="508" bIns="508" rtlCol="0" anchor="ctr">
            <a:normAutofit/>
          </a:bodyPr>
          <a:lstStyle/>
          <a:p>
            <a:pPr marL="0" indent="0">
              <a:buNone/>
            </a:pPr>
            <a:r>
              <a:rPr lang="en-US" sz="1700" dirty="0">
                <a:solidFill>
                  <a:srgbClr val="111111"/>
                </a:solidFill>
                <a:latin typeface="Arial" panose="020B0604020202020204" pitchFamily="34" charset="0"/>
                <a:ea typeface="Arial" panose="020B0604020202020204" pitchFamily="34" charset="-122"/>
                <a:cs typeface="Arial" panose="020B0604020202020204" pitchFamily="34" charset="-120"/>
              </a:rPr>
              <a:t>Nhập dữ liệu, quản lý nhân viên, rule, ngoại lệ, database</a:t>
            </a:r>
            <a:endParaRPr lang="en-US" sz="1700" dirty="0"/>
          </a:p>
        </p:txBody>
      </p:sp>
      <p:sp>
        <p:nvSpPr>
          <p:cNvPr id="12" name="Shape 10"/>
          <p:cNvSpPr/>
          <p:nvPr/>
        </p:nvSpPr>
        <p:spPr>
          <a:xfrm>
            <a:off x="685800" y="2167890"/>
            <a:ext cx="5852160" cy="863600"/>
          </a:xfrm>
          <a:prstGeom prst="rect">
            <a:avLst/>
          </a:prstGeom>
          <a:solidFill>
            <a:srgbClr val="FFFFFF"/>
          </a:solidFill>
          <a:ln w="10160">
            <a:solidFill>
              <a:srgbClr val="D9D9D9"/>
            </a:solidFill>
            <a:prstDash val="solid"/>
          </a:ln>
        </p:spPr>
      </p:sp>
      <p:sp>
        <p:nvSpPr>
          <p:cNvPr id="13" name="Shape 11"/>
          <p:cNvSpPr/>
          <p:nvPr/>
        </p:nvSpPr>
        <p:spPr>
          <a:xfrm flipH="1">
            <a:off x="2900680" y="2118995"/>
            <a:ext cx="8890" cy="909320"/>
          </a:xfrm>
          <a:prstGeom prst="line">
            <a:avLst/>
          </a:prstGeom>
          <a:noFill/>
          <a:ln w="10160">
            <a:solidFill>
              <a:srgbClr val="D9D9D9"/>
            </a:solidFill>
            <a:prstDash val="solid"/>
          </a:ln>
        </p:spPr>
      </p:sp>
      <p:sp>
        <p:nvSpPr>
          <p:cNvPr id="14" name="Text 12"/>
          <p:cNvSpPr/>
          <p:nvPr/>
        </p:nvSpPr>
        <p:spPr>
          <a:xfrm>
            <a:off x="758952" y="2164080"/>
            <a:ext cx="2077517" cy="441960"/>
          </a:xfrm>
          <a:prstGeom prst="rect">
            <a:avLst/>
          </a:prstGeom>
          <a:noFill/>
        </p:spPr>
        <p:txBody>
          <a:bodyPr wrap="square" lIns="508" tIns="508" rIns="508" bIns="508" rtlCol="0" anchor="ctr">
            <a:normAutofit/>
          </a:bodyPr>
          <a:lstStyle/>
          <a:p>
            <a:pPr marL="0" indent="0">
              <a:buNone/>
            </a:pPr>
            <a:r>
              <a:rPr lang="en-US" sz="1700" dirty="0">
                <a:solidFill>
                  <a:srgbClr val="111111"/>
                </a:solidFill>
                <a:latin typeface="Arial" panose="020B0604020202020204" pitchFamily="34" charset="0"/>
                <a:ea typeface="Arial" panose="020B0604020202020204" pitchFamily="34" charset="-122"/>
                <a:cs typeface="Arial" panose="020B0604020202020204" pitchFamily="34" charset="-120"/>
              </a:rPr>
              <a:t>USER</a:t>
            </a:r>
            <a:endParaRPr lang="en-US" sz="1700" dirty="0"/>
          </a:p>
        </p:txBody>
      </p:sp>
      <p:sp>
        <p:nvSpPr>
          <p:cNvPr id="15" name="Text 13"/>
          <p:cNvSpPr/>
          <p:nvPr/>
        </p:nvSpPr>
        <p:spPr>
          <a:xfrm>
            <a:off x="2944673" y="2356485"/>
            <a:ext cx="3482035" cy="441960"/>
          </a:xfrm>
          <a:prstGeom prst="rect">
            <a:avLst/>
          </a:prstGeom>
          <a:noFill/>
        </p:spPr>
        <p:txBody>
          <a:bodyPr wrap="square" lIns="508" tIns="508" rIns="508" bIns="508" rtlCol="0" anchor="ctr">
            <a:normAutofit/>
          </a:bodyPr>
          <a:lstStyle/>
          <a:p>
            <a:pPr marL="0" indent="0">
              <a:buNone/>
            </a:pPr>
            <a:r>
              <a:rPr lang="en-US" sz="1700" dirty="0">
                <a:solidFill>
                  <a:srgbClr val="111111"/>
                </a:solidFill>
                <a:latin typeface="Arial" panose="020B0604020202020204" pitchFamily="34" charset="0"/>
                <a:ea typeface="Arial" panose="020B0604020202020204" pitchFamily="34" charset="-122"/>
                <a:cs typeface="Arial" panose="020B0604020202020204" pitchFamily="34" charset="-120"/>
              </a:rPr>
              <a:t>Đăng nhập, đổi mật khẩu, tra cứu, xem kết quả, căn cứ và xuất kết quả tra cứu</a:t>
            </a:r>
            <a:endParaRPr lang="en-US" sz="1700" dirty="0"/>
          </a:p>
        </p:txBody>
      </p:sp>
      <p:sp>
        <p:nvSpPr>
          <p:cNvPr id="17" name="Shape 15"/>
          <p:cNvSpPr/>
          <p:nvPr/>
        </p:nvSpPr>
        <p:spPr>
          <a:xfrm>
            <a:off x="7589520" y="1005840"/>
            <a:ext cx="2057400" cy="4480560"/>
          </a:xfrm>
          <a:prstGeom prst="rect">
            <a:avLst/>
          </a:prstGeom>
          <a:solidFill>
            <a:srgbClr val="FFFFFF">
              <a:alpha val="0"/>
            </a:srgbClr>
          </a:solidFill>
          <a:ln w="12700">
            <a:solidFill>
              <a:srgbClr val="D9D9D9"/>
            </a:solidFill>
            <a:prstDash val="solid"/>
          </a:ln>
        </p:spPr>
      </p:sp>
      <p:pic>
        <p:nvPicPr>
          <p:cNvPr id="18" name="Image 0" descr="/mnt/data/ppt_assets/mobile.png"/>
          <p:cNvPicPr>
            <a:picLocks noChangeAspect="1"/>
          </p:cNvPicPr>
          <p:nvPr/>
        </p:nvPicPr>
        <p:blipFill>
          <a:blip r:embed="rId1"/>
          <a:stretch>
            <a:fillRect/>
          </a:stretch>
        </p:blipFill>
        <p:spPr>
          <a:xfrm>
            <a:off x="7589520" y="1019908"/>
            <a:ext cx="2057400" cy="4452425"/>
          </a:xfrm>
          <a:prstGeom prst="rect">
            <a:avLst/>
          </a:prstGeom>
        </p:spPr>
      </p:pic>
      <p:sp>
        <p:nvSpPr>
          <p:cNvPr id="19" name="Text 16"/>
          <p:cNvSpPr/>
          <p:nvPr/>
        </p:nvSpPr>
        <p:spPr>
          <a:xfrm>
            <a:off x="7296150" y="5659755"/>
            <a:ext cx="3657600" cy="365760"/>
          </a:xfrm>
          <a:prstGeom prst="rect">
            <a:avLst/>
          </a:prstGeom>
          <a:noFill/>
        </p:spPr>
        <p:txBody>
          <a:bodyPr wrap="square" lIns="508" tIns="508" rIns="508" bIns="508" rtlCol="0" anchor="ctr">
            <a:normAutofit/>
          </a:bodyPr>
          <a:lstStyle/>
          <a:p>
            <a:pPr marL="0" indent="0">
              <a:buNone/>
            </a:pPr>
            <a:r>
              <a:rPr lang="en-US" sz="1700" dirty="0">
                <a:solidFill>
                  <a:srgbClr val="111111"/>
                </a:solidFill>
                <a:latin typeface="Arial" panose="020B0604020202020204" pitchFamily="34" charset="0"/>
                <a:ea typeface="Arial" panose="020B0604020202020204" pitchFamily="34" charset="-122"/>
                <a:cs typeface="Arial" panose="020B0604020202020204" pitchFamily="34" charset="-120"/>
              </a:rPr>
              <a:t>Giao diện hỗ trợ mobile/LAN</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3030855" y="2802890"/>
            <a:ext cx="6544310" cy="829945"/>
          </a:xfrm>
          <a:prstGeom prst="rect">
            <a:avLst/>
          </a:prstGeom>
          <a:noFill/>
        </p:spPr>
        <p:txBody>
          <a:bodyPr wrap="square" rtlCol="0">
            <a:spAutoFit/>
          </a:bodyPr>
          <a:p>
            <a:r>
              <a:rPr lang="en-US" sz="4800" b="1"/>
              <a:t>Cảm ơn đã lắng nghe</a:t>
            </a:r>
            <a:endParaRPr lang="en-US" sz="4800" b="1"/>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4463</Words>
  <Application>WPS Presentation</Application>
  <PresentationFormat>On-screen Show (16:9)</PresentationFormat>
  <Paragraphs>259</Paragraphs>
  <Slides>12</Slides>
  <Notes>12</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12</vt:i4>
      </vt:variant>
    </vt:vector>
  </HeadingPairs>
  <TitlesOfParts>
    <vt:vector size="21" baseType="lpstr">
      <vt:lpstr>Arial</vt:lpstr>
      <vt:lpstr>SimSun</vt:lpstr>
      <vt:lpstr>Wingdings</vt:lpstr>
      <vt:lpstr>Arial</vt:lpstr>
      <vt:lpstr>Arial</vt:lpstr>
      <vt:lpstr>Microsoft YaHei</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Nhóm 1</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PayrollCheck - Báo cáo kỹ thuật</dc:title>
  <dc:creator>Nhóm 1</dc:creator>
  <dc:subject>Báo cáo kỹ thuật PayrollCheck</dc:subject>
  <cp:lastModifiedBy>Nguyễn Hồng Nguyên</cp:lastModifiedBy>
  <cp:revision>12</cp:revision>
  <dcterms:created xsi:type="dcterms:W3CDTF">2026-09-21T09:04:00Z</dcterms:created>
  <dcterms:modified xsi:type="dcterms:W3CDTF">2026-09-21T10:32:04Z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DD112343B9244F42A6D5E79FDAEB97EF_13</vt:lpwstr>
  </property>
  <property fmtid="{D5CDD505-2E9C-101B-9397-08002B2CF9AE}" pid="3" name="KSOProductBuildVer">
    <vt:lpwstr>1033-12.1.0.28485</vt:lpwstr>
  </property>
</Properties>
</file>